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1005" r:id="rId2"/>
    <p:sldId id="1263" r:id="rId3"/>
    <p:sldId id="1275" r:id="rId4"/>
    <p:sldId id="1276" r:id="rId5"/>
    <p:sldId id="1277" r:id="rId6"/>
    <p:sldId id="1261" r:id="rId7"/>
    <p:sldId id="1265" r:id="rId8"/>
    <p:sldId id="1268" r:id="rId9"/>
    <p:sldId id="1262" r:id="rId10"/>
    <p:sldId id="1266" r:id="rId11"/>
    <p:sldId id="1270" r:id="rId12"/>
    <p:sldId id="1267" r:id="rId13"/>
    <p:sldId id="1272" r:id="rId14"/>
    <p:sldId id="1273" r:id="rId15"/>
    <p:sldId id="1274" r:id="rId16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FFFFCC"/>
    <a:srgbClr val="00608A"/>
    <a:srgbClr val="008000"/>
    <a:srgbClr val="FF9900"/>
    <a:srgbClr val="AB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0339" autoAdjust="0"/>
  </p:normalViewPr>
  <p:slideViewPr>
    <p:cSldViewPr snapToGrid="0" snapToObjects="1">
      <p:cViewPr varScale="1">
        <p:scale>
          <a:sx n="76" d="100"/>
          <a:sy n="76" d="100"/>
        </p:scale>
        <p:origin x="854" y="67"/>
      </p:cViewPr>
      <p:guideLst>
        <p:guide orient="horz" pos="252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845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139" y="53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6DBCF797-72C0-5845-BDC2-DBB92780D26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F16CD617-248E-484D-88E3-73E31928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10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C55EB-9B32-BD09-53F4-53E7E105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06956-C2DA-88E4-8B0F-18D859A44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5B5DC-A7B9-994F-B0BD-7282781FE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BDA35-2B63-3A76-F467-1BC4FBD7A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5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F30E-0746-50B2-4A3F-3F216B8B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800E0-ABD2-B43C-C361-1F484BC6B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4ECAD-30B2-A757-14FA-A675EA89D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EE839-C8A0-B4C6-1C37-117C007D4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27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BACF-0458-EAFE-5867-5129C500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A308A-47FC-7EA3-4B45-81B65092C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F60EF-ED74-DBAF-9D69-C6C73D450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3EB1C-3F6F-0B67-35A0-7439C6C19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75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E6E5-E815-CA9E-314A-8226D607D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FD30D-9B57-92C4-32D4-471C26907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AAE93-63AA-0A73-5114-74BA40DF3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2E294-BD67-893C-4C8F-345825BF9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03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92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7A13-E512-4004-7DFC-E60131C2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D9B5F-2170-220D-ECE1-29BC6F4CD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E25BF-2069-39F5-E257-80C4C452B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384AD-BA0E-7A63-1CB1-33869B7C9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1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1D57-B955-4F97-0C28-24DFA8FB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DA1BC-E82B-3267-27E7-996B1E8C4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065CF-230D-269E-FA9E-E7099CC06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37DAF-E516-97F8-23ED-7E0F708FD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16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4B30-A25F-1355-F2C1-5405B9D6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7CDB3-1392-9D40-5739-FF08045CC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8401C-840F-4ECE-8B38-915A6D1B6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A7F40-70B3-B2FC-B152-0C9CF076A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079A-FE5C-4BA9-0CE9-41D31D83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8A343-8781-2029-003B-C8E268984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9099B-9264-8575-4D8A-654DDBA41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GMRI tomcod only</a:t>
            </a:r>
          </a:p>
          <a:p>
            <a:r>
              <a:rPr lang="en-GB" dirty="0"/>
              <a:t>Used spawning year (Nov-October)</a:t>
            </a:r>
          </a:p>
          <a:p>
            <a:r>
              <a:rPr lang="en-GB" dirty="0"/>
              <a:t>Other stuff I tried: winter/ early spring precipitation,  winter/ early spring Presumpscot river height (proxy for flow), seasonal temperatures, instantaneous temperature (sonde, data missing and/or uncalibrated)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6048F-C015-1FCE-F428-D188BD263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1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4087-1871-E4D0-C545-2846F788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32E84-2738-2576-F5E5-83482FA8C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28D97-41C2-C4EB-3C28-FEBE7D10A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45B65-4A9A-8A68-56BF-5C4B5C9F5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15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70BF5-87FA-869A-3F7E-F2A0377D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76527-0CE5-BBBB-2924-88FEF8746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0DC29-0A71-026D-746E-70855D0C1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1EF43-C1D1-9A51-95DD-A7655B540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26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0326-8D2D-9997-9F5B-623643E6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F06AE-15E0-10B7-B3C0-2A16175D4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510AF-890F-BF22-FA32-F5E5C12AD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960C2-1F44-DCDA-4B61-91205BDB1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06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D68E-CB39-27C1-A0B1-286F22A0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332D2-11BE-8DFD-7A6E-B51EA5717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B3616-0404-E1B4-3231-EE910E565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D7DD3-ADCD-FD07-92D5-F653932D1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0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3301-C5E1-3878-CAE9-BB3B0D93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4D61D-EAB0-F4DF-2B08-506049CD5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F8F4B-64FF-A0B3-2175-0A2327300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D70F-BB56-5BF6-AA63-E36A20AC2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CD617-248E-484D-88E3-73E3192806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0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23942"/>
            <a:ext cx="10363200" cy="1386617"/>
          </a:xfrm>
        </p:spPr>
        <p:txBody>
          <a:bodyPr>
            <a:normAutofit/>
          </a:bodyPr>
          <a:lstStyle>
            <a:lvl1pPr algn="ctr"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10558"/>
            <a:ext cx="10363200" cy="675704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subtitle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A39A-9F89-364E-BF01-AB38BD84F7BC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2E93-C421-DE4B-8656-34BC9D77A2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3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</p:spPr>
        <p:txBody>
          <a:bodyPr anchor="t">
            <a:normAutofit/>
          </a:bodyPr>
          <a:lstStyle>
            <a:lvl1pPr algn="l">
              <a:defRPr sz="2800" b="1" i="0">
                <a:latin typeface="Arial"/>
                <a:cs typeface="Arial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A39A-9F89-364E-BF01-AB38BD84F7BC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2E93-C421-DE4B-8656-34BC9D77A2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1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Compass 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ires_dark_no_compass_conten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46" y="191821"/>
            <a:ext cx="9742556" cy="636385"/>
          </a:xfrm>
        </p:spPr>
        <p:txBody>
          <a:bodyPr anchor="t">
            <a:normAutofit/>
          </a:bodyPr>
          <a:lstStyle>
            <a:lvl1pPr algn="l">
              <a:defRPr sz="2800" b="1" i="0">
                <a:latin typeface="Arial"/>
                <a:cs typeface="Arial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A39A-9F89-364E-BF01-AB38BD84F7BC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2E93-C421-DE4B-8656-34BC9D77A2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3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 Compass Rose 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46" y="191821"/>
            <a:ext cx="11681252" cy="636385"/>
          </a:xfrm>
        </p:spPr>
        <p:txBody>
          <a:bodyPr anchor="t">
            <a:normAutofit/>
          </a:bodyPr>
          <a:lstStyle>
            <a:lvl1pPr algn="l">
              <a:defRPr sz="2800" b="1" i="0">
                <a:latin typeface="Arial"/>
                <a:cs typeface="Arial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7A39A-9F89-364E-BF01-AB38BD84F7BC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2E93-C421-DE4B-8656-34BC9D77A2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3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946" y="173416"/>
            <a:ext cx="9742556" cy="636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946" y="957038"/>
            <a:ext cx="11681252" cy="5169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9946" y="6356351"/>
            <a:ext cx="31844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</a:lstStyle>
          <a:p>
            <a:fld id="{A637A39A-9F89-364E-BF01-AB38BD84F7BC}" type="datetimeFigureOut">
              <a:rPr lang="en-US" smtClean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32135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</a:lstStyle>
          <a:p>
            <a:fld id="{DD842E93-C421-DE4B-8656-34BC9D77A2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3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0" r:id="rId4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rgbClr val="00608A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7B1C-8633-4611-B92D-3A120763B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192" y="1554907"/>
            <a:ext cx="11138994" cy="3027141"/>
          </a:xfrm>
        </p:spPr>
        <p:txBody>
          <a:bodyPr anchor="ctr">
            <a:no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Ecosystem Indicator Report </a:t>
            </a:r>
            <a:b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Analyses</a:t>
            </a:r>
          </a:p>
        </p:txBody>
      </p:sp>
    </p:spTree>
    <p:extLst>
      <p:ext uri="{BB962C8B-B14F-4D97-AF65-F5344CB8AC3E}">
        <p14:creationId xmlns:p14="http://schemas.microsoft.com/office/powerpoint/2010/main" val="5304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E383-E802-B870-9245-AA1BE0F7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212B-73FF-DA47-E95B-BC5E58C3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Ecosystem Change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96DA84-2906-D689-70EA-906977A21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957038"/>
            <a:ext cx="10899648" cy="4847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Evidence that we are at the beginning of a “cold wave” in the Gulf of Maine (Record et al. 2024, </a:t>
            </a:r>
            <a:r>
              <a:rPr lang="en-US" i="1" dirty="0">
                <a:solidFill>
                  <a:schemeClr val="tx1"/>
                </a:solidFill>
              </a:rPr>
              <a:t>Oceanography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PHTG: Annual average anomaly 0.2°C above 2003-2020 CRP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PHTG: Winter (Dec 24-Feb 25) average anomaly 0.5°C below CRP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PHTG: All seasons coolest since 2019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D3E765-9EDB-1F22-E402-B95A8888101E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6263-5AB7-2270-2DA6-99B84C601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 showing a number of dots&#10;&#10;AI-generated content may be incorrect.">
            <a:extLst>
              <a:ext uri="{FF2B5EF4-FFF2-40B4-BE49-F238E27FC236}">
                <a16:creationId xmlns:a16="http://schemas.microsoft.com/office/drawing/2014/main" id="{CC9BA4AD-7F65-69C0-099B-943531D63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12" y="957038"/>
            <a:ext cx="9189573" cy="5847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8AB97-3E2A-8810-1BDE-AE9C8821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Ecosystem Change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AE7964-FCCC-18D7-7B5E-BA27D9E3264E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466B-A989-C714-8C0B-AC4F8818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E64D5C7A-C821-45E7-F52D-28278E09B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36" y="957038"/>
            <a:ext cx="9837519" cy="5785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551970-6557-0110-2135-596B020D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Ecosystem Change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72E59-D1E5-4EB2-97CA-F6EB09823AE3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0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6854-8341-9A6A-8F15-481F7A0D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1A38-B57C-4B43-6499-847B5615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Ecosystem Change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85DB1B4-1A6F-D917-E4F2-71E11BB26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957038"/>
            <a:ext cx="10899648" cy="4847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New: HOBO data loggers deployed to record bottom water temperature </a:t>
            </a:r>
            <a:r>
              <a:rPr lang="en-US">
                <a:solidFill>
                  <a:schemeClr val="tx1"/>
                </a:solidFill>
              </a:rPr>
              <a:t>at each site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16FF9-173A-63E8-FBBA-0315E4E67FD0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5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0533-A961-2E49-F0DB-46DC2BD1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Species of note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9B44D3-854C-6422-1E79-3B0396136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957038"/>
            <a:ext cx="10899648" cy="4847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Southern orphans – spot*, permit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* New this year, captured consistently at Lowell Cove Jul-Aug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 other GSOs or “southern species”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White mullet disappeared after catch increases since 2022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crevalle jack either (consistently caught since 2020)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F003B-B60F-6BB9-D8D9-02C65B24B558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0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13AC-5887-1AF8-EA70-FAA47A7AB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1481-5FDE-2E85-919F-1C41A291C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Species of note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9D11A-7504-92A4-A99F-20FC7D2350EA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and grey background with squares&#10;&#10;Description automatically generated with medium confidence">
            <a:extLst>
              <a:ext uri="{FF2B5EF4-FFF2-40B4-BE49-F238E27FC236}">
                <a16:creationId xmlns:a16="http://schemas.microsoft.com/office/drawing/2014/main" id="{5A29BE24-713D-A769-A3C1-8E4D98215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39" y="1224505"/>
            <a:ext cx="11455121" cy="527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6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1E69-CDCB-16C0-CFFD-CF2DEAA2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2615-E59D-6B66-71D1-68BFBAFD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Section: Species of note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56F5B-DDF2-805B-6C0F-9B2267E85CF7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253B0-44E7-2697-F2F8-2466916A5149}"/>
              </a:ext>
            </a:extLst>
          </p:cNvPr>
          <p:cNvGrpSpPr/>
          <p:nvPr/>
        </p:nvGrpSpPr>
        <p:grpSpPr>
          <a:xfrm>
            <a:off x="81807" y="1963709"/>
            <a:ext cx="12028386" cy="3880126"/>
            <a:chOff x="0" y="1963709"/>
            <a:chExt cx="12028386" cy="3880126"/>
          </a:xfrm>
        </p:grpSpPr>
        <p:pic>
          <p:nvPicPr>
            <p:cNvPr id="7" name="Picture 6" descr="A chart of different colors&#10;&#10;Description automatically generated">
              <a:extLst>
                <a:ext uri="{FF2B5EF4-FFF2-40B4-BE49-F238E27FC236}">
                  <a16:creationId xmlns:a16="http://schemas.microsoft.com/office/drawing/2014/main" id="{E9F96462-72D2-63E7-ED0E-E34EE6463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963710"/>
              <a:ext cx="6014193" cy="3880125"/>
            </a:xfrm>
            <a:prstGeom prst="rect">
              <a:avLst/>
            </a:prstGeom>
          </p:spPr>
        </p:pic>
        <p:pic>
          <p:nvPicPr>
            <p:cNvPr id="9" name="Picture 8" descr="A chart with different colored bars&#10;&#10;Description automatically generated with medium confidence">
              <a:extLst>
                <a:ext uri="{FF2B5EF4-FFF2-40B4-BE49-F238E27FC236}">
                  <a16:creationId xmlns:a16="http://schemas.microsoft.com/office/drawing/2014/main" id="{36A285E6-E0CA-FF74-84AC-6E7B742D9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4193" y="1963709"/>
              <a:ext cx="6014193" cy="3880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630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F5F6-4162-E807-70E5-DCA94B0E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31C3-2779-0661-4B93-26FD1F48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Emergent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6D5B14-ECD1-7A3F-BBF9-27BEA084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957038"/>
            <a:ext cx="10899648" cy="4847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Increased Atlantic tomcod abundance as compared to previous years, related to temperature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FD9EE-4EDB-EA24-875F-20D37073A9F3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51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CE13-472D-5021-2802-3B630208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CD04-2DBF-0146-FD4B-4F8CA285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Section: Emergent Trends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B0763-A9DF-46E8-1395-3CC754923839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aph with different colored dots&#10;&#10;Description automatically generated">
            <a:extLst>
              <a:ext uri="{FF2B5EF4-FFF2-40B4-BE49-F238E27FC236}">
                <a16:creationId xmlns:a16="http://schemas.microsoft.com/office/drawing/2014/main" id="{F4355916-7CEE-8E45-2302-4AD5681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85" y="1302061"/>
            <a:ext cx="7833617" cy="5222411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68ECD29F-6DD2-63EE-6E65-5EDB10EFB72B}"/>
              </a:ext>
            </a:extLst>
          </p:cNvPr>
          <p:cNvSpPr/>
          <p:nvPr/>
        </p:nvSpPr>
        <p:spPr>
          <a:xfrm>
            <a:off x="3635115" y="5719447"/>
            <a:ext cx="1086787" cy="805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4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D0ED0-C699-152A-37C0-4BD54967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2153-F51C-CA54-0D33-64103882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Emergent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AD7BF7-E316-D4AF-34A1-83F13BE0C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957038"/>
            <a:ext cx="10899648" cy="4847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Delayed spawning for estuarine residents (Atlantic silverside, mummichog)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9778A-685D-FC28-46AB-9EF38C7B494E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87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CFDE-BF09-F52D-AF6B-F984C378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7690-D8CF-07E8-046F-9E72230B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Emergent Trends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D2D0E-47F9-60B4-5F77-7564EACCE293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of a number of days and months&#10;&#10;Description automatically generated with medium confidence">
            <a:extLst>
              <a:ext uri="{FF2B5EF4-FFF2-40B4-BE49-F238E27FC236}">
                <a16:creationId xmlns:a16="http://schemas.microsoft.com/office/drawing/2014/main" id="{DE8E6810-33F8-03BA-3398-9C9C3BDD9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081" y="1281377"/>
            <a:ext cx="7917838" cy="510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F95A-E216-EAB9-C100-8024763D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DCFF-CDCD-EA3C-41F3-A5D225FB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Emergent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40878B-4780-D014-EB9B-A9EAB10A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957038"/>
            <a:ext cx="10899648" cy="48474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Increased Atlantic silverside growth and decreased Atlantic herring growth in warmer conditions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QBC student involvement on this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143185-D6E8-A15E-2C39-28E65A1862DA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3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36D7-3BAB-03B8-EE4E-5AC071AC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51AD-399F-279A-45FB-8E3CFB74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Emergent Trends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6217E7-5CCF-9775-8F91-D35850B3BA0C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D9E429-125A-574E-4380-114A84B02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1973626"/>
            <a:ext cx="5991225" cy="3705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2157F-F976-CB96-9BED-160BBDD9B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73626"/>
            <a:ext cx="59912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86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E1694-F1CC-2EDE-F5C6-F4968E1F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C2FF-3796-FDB0-19E7-B3D8B121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Section: Emergent Trends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4C8CDA-3DD9-E30C-4133-1D59E1C07A3D}"/>
              </a:ext>
            </a:extLst>
          </p:cNvPr>
          <p:cNvSpPr/>
          <p:nvPr/>
        </p:nvSpPr>
        <p:spPr>
          <a:xfrm>
            <a:off x="9594574" y="191821"/>
            <a:ext cx="2491409" cy="7652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CB4D7-26D7-B007-28BD-8871C9449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929" y="1494012"/>
            <a:ext cx="7238142" cy="446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06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MRI PPT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EE9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167461</TotalTime>
  <Words>287</Words>
  <Application>Microsoft Office PowerPoint</Application>
  <PresentationFormat>Widescreen</PresentationFormat>
  <Paragraphs>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Ecosystem Indicator Report  Analyses</vt:lpstr>
      <vt:lpstr>Section: Ecosystem Change</vt:lpstr>
      <vt:lpstr>Section: Ecosystem Change</vt:lpstr>
      <vt:lpstr>Section: Ecosystem Change</vt:lpstr>
      <vt:lpstr>Section: Ecosystem Change</vt:lpstr>
      <vt:lpstr>Section: Species of note</vt:lpstr>
      <vt:lpstr>Section: Species of note</vt:lpstr>
      <vt:lpstr>Section: Species of note </vt:lpstr>
      <vt:lpstr>Section: Emergent Trends</vt:lpstr>
      <vt:lpstr>Section: Emergent Trends </vt:lpstr>
      <vt:lpstr>Section: Emergent Trends</vt:lpstr>
      <vt:lpstr>Section: Emergent Trends</vt:lpstr>
      <vt:lpstr>Section: Emergent Trends</vt:lpstr>
      <vt:lpstr>Section: Emergent Trends</vt:lpstr>
      <vt:lpstr>Section: Emergent Trends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Petri Tuohimaa</dc:creator>
  <cp:lastModifiedBy>Katie Lankowicz</cp:lastModifiedBy>
  <cp:revision>652</cp:revision>
  <cp:lastPrinted>2022-02-11T18:40:05Z</cp:lastPrinted>
  <dcterms:created xsi:type="dcterms:W3CDTF">2013-03-19T10:42:00Z</dcterms:created>
  <dcterms:modified xsi:type="dcterms:W3CDTF">2025-12-16T15:01:25Z</dcterms:modified>
</cp:coreProperties>
</file>