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54" r:id="rId3"/>
    <p:sldId id="355" r:id="rId4"/>
    <p:sldId id="356" r:id="rId5"/>
    <p:sldId id="345" r:id="rId6"/>
    <p:sldId id="360" r:id="rId7"/>
    <p:sldId id="339" r:id="rId8"/>
    <p:sldId id="372" r:id="rId9"/>
    <p:sldId id="283" r:id="rId10"/>
    <p:sldId id="358" r:id="rId11"/>
    <p:sldId id="377" r:id="rId12"/>
    <p:sldId id="371" r:id="rId13"/>
    <p:sldId id="366" r:id="rId14"/>
    <p:sldId id="368" r:id="rId15"/>
    <p:sldId id="376" r:id="rId16"/>
    <p:sldId id="374" r:id="rId17"/>
    <p:sldId id="364" r:id="rId18"/>
    <p:sldId id="365" r:id="rId19"/>
    <p:sldId id="363" r:id="rId20"/>
    <p:sldId id="367" r:id="rId21"/>
    <p:sldId id="375" r:id="rId22"/>
    <p:sldId id="351" r:id="rId23"/>
    <p:sldId id="359" r:id="rId24"/>
    <p:sldId id="369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gDo83AFVWO/KIEjmkQz2we2TMm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00608A"/>
    <a:srgbClr val="00FF00"/>
    <a:srgbClr val="242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966" autoAdjust="0"/>
  </p:normalViewPr>
  <p:slideViewPr>
    <p:cSldViewPr snapToGrid="0">
      <p:cViewPr varScale="1">
        <p:scale>
          <a:sx n="88" d="100"/>
          <a:sy n="88" d="100"/>
        </p:scale>
        <p:origin x="466" y="6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21:07:54.03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224 163 24575,'-7'4'0,"0"0"0,-1 0 0,1-1 0,-1 0 0,0 0 0,0-1 0,0 0 0,0 0 0,-11 1 0,-10 2 0,16-3 0,13-5 0,22-15 0,39-18 0,-32 23 0,-22 10 0,0 1 0,0-2 0,0 1 0,0-1 0,0 0 0,-1 0 0,0-1 0,8-6 0,-15 10 0,1 1 0,0 0 0,0-1 0,-1 1 0,1 0 0,0-1 0,0 1 0,-1-1 0,1 1 0,0 0 0,-1 0 0,1-1 0,-1 1 0,1 0 0,0 0 0,-1-1 0,1 1 0,-1 0 0,1 0 0,-1 0 0,1 0 0,0-1 0,-1 1 0,1 0 0,-1 0 0,1 0 0,-1 0 0,1 0 0,-1 0 0,1 0 0,-1 0 0,1 1 0,-1-1 0,1 0 0,-1 0 0,1 0 0,-1 1 0,-24 1 0,-8 6 0,0 2 0,-36 15 0,31-10 0,74-39 0,-32 17 0,-29 17 0,-45 29 0,66-36 0,8-4 0,37-21 0,6-6 0,-34 19 0,-21 11 0,17-6 0,0 1 0,0-1 0,0 0 0,0 0 0,-1-1 0,0 0 0,0 0 0,0-1 0,-1 0 0,0 0 0,0-1 0,8-9 0,-20 10 0,-14 9 0,-17 7 0,-58 29 0,127-63 0,-22 15 0,0 0 0,1 1 0,0 0 0,26-12 0,-46 24 0,1 1 0,0 0 0,0 1 0,0-1 0,1 1 0,-1 1 0,2-1 0,-1 1 0,-6 10 0,13-17 0,0 1 0,-1-1 0,1 1 0,0-1 0,0 1 0,0-1 0,0 1 0,0-1 0,0 0 0,0 0 0,0 1 0,0-1 0,0 0 0,0 0 0,0 0 0,0 0 0,0 0 0,0 0 0,0-1 0,0 1 0,0 0 0,0 0 0,0-1 0,0 1 0,0 0 0,0-1 0,1 0 0,32-9 0,34-15 0,-93 45 0,-18 14 0,43-34 0,1 0 0,-1 0 0,0 0 0,0 0 0,0 0 0,0 0 0,0 0 0,0 0 0,0 0 0,0 0 0,1 0 0,-1 1 0,0-1 0,0 0 0,0 0 0,0 0 0,0 0 0,0 0 0,0 0 0,0 0 0,0 0 0,0 1 0,0-1 0,0 0 0,0 0 0,0 0 0,0 0 0,0 0 0,0 0 0,0 0 0,0 1 0,0-1 0,0 0 0,0 0 0,0 0 0,0 0 0,0 0 0,0 0 0,0 0 0,0 1 0,0-1 0,0 0 0,0 0 0,0 0 0,0 0 0,0 0 0,-1 0 0,1 0 0,0 0 0,0 0 0,0 0 0,0 1 0,0-1 0,0 0 0,30-13 0,100-46 0,-239 118 0,45-26 0,-55 22 0,298-145 0,-164 83 0,9-5 0,-38 25 0,-20 9 0,23-16 0,0 1 0,0 1 0,0 0 0,-16 16 0,27-23 0,1-1 0,-1 0 0,0 1 0,1-1 0,-1 1 0,0-1 0,1 0 0,-1 1 0,1-1 0,-1 0 0,1 1 0,-1-1 0,1 0 0,-1 0 0,1 0 0,-1 1 0,1-1 0,-1 0 0,1 0 0,-1 0 0,1 0 0,-1 0 0,1 0 0,-1 0 0,1 0 0,0 0 0,-1 0 0,1 0 0,-1 0 0,1-1 0,-1 1 0,1 0 0,-1 0 0,1-1 0,-1 1 0,1 0 0,0-1 0,30-5 0,-2-2 0,-7 3 0,0 0 0,0-2 0,0-1 0,-1-1 0,0 0 0,29-19 0,-121 56 0,-73 57 0,202-112 0,-35 18 0,0-2 0,37-21 0,-124 44 0,-7 22 0,54-25 0,1-1 0,-2-1 0,-32 11 0,102-65 0,-9 18 0,-31 22 0,1-2 0,-1 1 0,-1-1 0,0-1 0,0 0 0,11-14 0,-83 63 0,19-9 0,-4 4 0,53-34 0,36-19 0,23-10 0,-35 16 0,-1-1 0,41-25 0,-223 116 0,90-40 0,58-34 0,13-8 0,18-11 0,-19 11 0,74-43 0,-53 33 0,-27 14 0,-11 8 0,-25 15 0,17-12 0,1 0 0,0 1 0,1 1 0,-27 26 0,110-71 0,-28 11 0,-25 13 0,0 0 0,1 1 0,0 1 0,24-8 0,-102 59 0,-66 33 0,133-80 0,12-8 0,0 0 0,1 1 0,29-10 0,-118 78 0,5-19 0,49-31 0,46-30 0,88-53 0,-244 136 0,96-41 0,39-20 0,61-29 0,-40 17 0,82-28 0,-66 26 0,82-39 0,-226 78 0,25 3 0,2 2 0,-88 51 0,194-101 0,148-84 0,-275 176 0,42-42 0,-78 34 0,202-123 0,-36 35 0,0 3 0,2 0 0,61-22 0,-226 130 0,59-48 0,59-35 0,45-25 0,119-69 0,-298 182 0,127-84 0,-73 40 0,59-32 0,25-14 0,11-6 0,67-40 0,145-61 0,-261 141 0,-39 21 0,0-8 0,295-172 0,-454 262 0,309-179 0,119-62 0,-176 100 0,-30 18 0,-34 21 0,-13 1 0,50-30 0,47-27 0,149-68 0,-234 116 0,-7 5 0,-86 35 0,235-128 0,-66 47 0,18-9 0,-37 18 0,-26 13 0,-143 69 0,429-181 0,-300 132 0,-34 16 0,22-18 0,37-20 0,34-19 0,58-26 0,-56 28 0,-1-2 0,45-26 0,-140 66 0,24-13 0,6 3 0,-52 22 0,84-38 0,10-6 0,45-24 0,-3 3 0,-7 4 0,-70 37 0,-68 38 0,144-75 0,77-27 0,-187 105 0,19-27 0,39-26 0,35-20 0,-8 4 0,1 1 0,0 1 0,1 0 0,31-10 0,-79 44 0,9-11 0,15-12 0,7-4 0,-10 1 0,0 1 0,0 1 0,1-1 0,-1 1 0,0 1 0,1 0 0,-9 2 0,13-3 0,-35 7 0,38-8 0,-1 1 0,1-1 0,-1 0 0,1 0 0,-1 0 0,1 0 0,-1 1 0,1-1 0,0 0 0,-1 0 0,1 0 0,-1 0 0,1 0 0,-1 0 0,1 0 0,-1 0 0,1-1 0,-1 1 0,1 0 0,0 0 0,-1 0 0,1 0 0,-1-1 0,1 1 0,0 0 0,-1 0 0,1-1 0,-1 1 0,1 0 0,0 0 0,-1-1 0,1 1 0,0 0 0,0-1 0,-1 1 0,1-1 0,0 1 0,0 0 0,0-1 0,-1 1 0,1-1 0,0 1 0,0-1 0,0 1 0,0 0 0,0-1 0,0 1 0,0-1 0,0 1 0,0-1 0,0 1 0,0-1 0,0 1 0,0 0 0,0-1 0,1 1 0,-1-1 0,0 1 0,0-1 0,0 1 0,1 0 0,-1-1 0,0 1 0,0 0 0,1-1 0,-1 1 0,1-1 0,-4 4 0,0-1 0,-1 0 0,1 0 0,-1 0 0,1 0 0,-1-1 0,0 1 0,0-1 0,-6 1 0,10-2 0,0 1 0,-1-1 0,1 0 0,0 0 0,0 0 0,-1 0 0,1 1 0,0-1 0,0 0 0,-1 0 0,1 0 0,0 0 0,0 0 0,-1 0 0,1 0 0,0 0 0,-1 0 0,1 0 0,0 0 0,0 0 0,-1 0 0,1 0 0,0 0 0,-1 0 0,1 0 0,0 0 0,0-1 0,-1 1 0,1 0 0,0 0 0,0 0 0,0 0 0,-1-1 0,1 1 0,0 0 0,0 0 0,0 0 0,-1-1 0,1 1 0,0 0 0,0 0 0,0 0 0,0-1 0,0 1 0,-1 0 0,1 0 0,0-1 0,25-23 0,-6 6 0,-49 29 0,-52 30 0,93-49 0,28-14 0,-38 22 0,0-1 0,0 1 0,0 0 0,0 0 0,0 0 0,0 0 0,-1 0 0,1 0 0,0 0 0,0 0 0,0 0 0,0 0 0,0 0 0,0 1 0,0-1 0,0 0 0,0 1 0,-1-1 0,1 1 0,0-1 0,0 1 0,0-1 0,-1 1 0,1-1 0,0 1 0,-1 0 0,1-1 0,-1 1 0,1 0 0,0-1 0,-1 1 0,0 0 0,1 0 0,-1 0 0,1 0 0,-1-1 0,0 1 0,0 0 0,1 0 0,-1 0 0,0 0 0,0 0 0,0 1 0,1-1 0,-1 0 0,1 0 0,0 0 0,0 0 0,0 0 0,0-1 0,0 1 0,0 0 0,0 0 0,0-1 0,0 1 0,1-1 0,-1 1 0,0-1 0,0 1 0,1-1 0,-1 0 0,0 1 0,0-1 0,1 0 0,-1 0 0,0 0 0,1 0 0,-1 0 0,0 0 0,0-1 0,1 1 0,1-1 0,49-8 0,-40 7 0,19-6 0,-28 5 0,-20 4 0,0 0 0,1 1 0,0 1 0,-1 0 0,1 1 0,1 1 0,-29 12 0,129-12 0,-83-5 0,-1-1 0,0 1 0,1-1 0,-1 1 0,1 0 0,-1 0 0,1 0 0,-1 0 0,0 0 0,1 0 0,-1 0 0,1 0 0,-1 1 0,1-1 0,-1 0 0,0 1 0,1-1 0,-1 1 0,0-1 0,1 1 0,-1 0 0,0 0 0,0 0 0,0-1 0,0 1 0,0 0 0,2 2 0,-4 0 0,-1-1 0,0 0 0,0-1 0,1 1 0,-1 0 0,-1 0 0,1-1 0,0 1 0,0-1 0,0 0 0,-1 0 0,1 0 0,-1 0 0,1 0 0,-4 1 0,5-2-4,1 0-1,0 0 0,-1 0 1,1 0-1,0 0 0,-1 0 1,1 0-1,-1 0 0,1 0 1,0 0-1,-1 0 0,1 0 1,0 0-1,-1 0 0,1-1 1,0 1-1,-1 0 0,1 0 1,0 0-1,-1-1 1,1 1-1,0 0 0,-1 0 1,1-1-1,0 1 0,0 0 1,-1 0-1,1-1 0,0 1 1,0 0-1,0-1 0,0 1 1,-1 0-1,1-1 0,0 1 1,0 0-1,0-1 0,0 1 1,0 0-1,0-1 0,0 1 1,0 0-1,0-1 0,0 1 1,0-1-1,0 1 1,0 0-1,0-1 0,0 1 1,0 0-1,1-1 0,-1 1 1,0 0-1,0-1 0,0-4-1104,0-4-5717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>
              <a:buSzPts val="1200"/>
            </a:pPr>
            <a:fld id="{00000000-1234-1234-1234-123412341234}" type="slidenum">
              <a:rPr lang="en-US" sz="1200" smtClean="0">
                <a:solidFill>
                  <a:schemeClr val="dk1"/>
                </a:solidFill>
                <a:ea typeface="Calibri"/>
                <a:sym typeface="Calibri"/>
              </a:rPr>
              <a:pPr algn="r">
                <a:buSzPts val="1200"/>
              </a:pPr>
              <a:t>‹#›</a:t>
            </a:fld>
            <a:endParaRPr lang="en-US" sz="1200" dirty="0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Google Shape;3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8F44CE68-601D-48EF-186F-DE8CDD15C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F67072A0-7F16-FD77-2642-84C9650571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37EF2E47-0CA1-09E4-2AF1-7BFFDD9EC2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C2855394-01B6-A600-18D5-EB61364884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6343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3C8DB03A-BB90-F0CE-84FF-AAD0851FD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4EDD51CE-8677-2572-792D-EFD72D25C6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647D457E-D633-8A91-6F03-DB11A4915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2F15D704-749B-4060-ACF3-80EE2718B1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120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8085C827-CEEF-7E1D-FE3C-0AD5CCE6D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EF5A47F9-FEA1-148A-100F-F9F74507B9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F96D48A1-7169-6606-A888-1BE2A5F81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196AC9D2-12E5-4386-A5D0-5FE8F1AD83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1353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6687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281AACB6-0567-E579-FBF7-E47A41593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A65A770D-A5E4-4CE6-64B2-FB057D42F8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B09C16F3-F146-7D1A-7ED9-E23B781F2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47A99313-633C-EFF5-DF69-E7BDC920C1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8378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6962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852C40DF-C6E3-F425-4863-B11AEAB3D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ACDBD537-5E41-F2D6-0790-F34D10426A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E7D70D79-C5B0-39D5-A836-B1136361E5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4354352B-D39F-BA16-C316-538E2AB884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0629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FC9B1C02-798F-EADD-FFF7-44474722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C0AEF2F2-6B0C-F750-0D65-363A13C89B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42B22AEA-423F-8543-3F4D-7354EB6F54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3399C7D2-5589-E576-3143-0CEDC4CF67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2069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16CD9295-6AB8-64F8-6724-A8FB63AC7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C1DB3234-4022-0990-EF89-646AFAA33A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823717F6-DF4B-E9F3-5689-939526C13E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6ADBDEA3-049A-BB8C-D318-034ED56EDC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2345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89210714-AF3F-41D9-05F4-79E4A3EAA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24662CBC-8DDA-F42C-0E09-0AA7759244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C762369B-9EC6-5304-FF05-744C59CE6A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9A917458-5272-CC2A-2247-4E7AADB709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971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ABD080DF-00A5-A351-11BF-C2372B5B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14E1BD70-BDB1-A376-0C9B-8E9D104109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199E73A5-6748-9888-8D21-C627487C4E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4C8B67C6-8E9F-F3E9-0947-769670C6C6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64353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7B9C20DE-2FC9-6A14-8366-3CE3D21B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D0A8AF61-CB9C-4123-20CF-55233FDE69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20CF49DE-070F-F2E7-2D2C-017EB68CF0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9F9F5F8D-6827-01B8-DDCD-76EA6DAAD5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2222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0BB83956-2266-EF64-2AE9-2D8F0B4A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21186CFC-6F1F-A7C1-FB4F-87093BC906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A1ADD2D5-E09A-8CC6-DF45-4C7FDB1964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50780CD7-5EC9-0C7F-E13A-F059080226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99740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66A0BA87-7740-F143-C7B3-371FBA89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D5B5351B-C155-BFE1-9BA4-A778DD64D3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6B3AC96A-D7FD-B35E-5FFD-A2C0028C94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BAB31DF9-6D03-BB2A-4C63-8C51B0A23F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0671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EBA9154C-AE5D-9FEE-87FA-F29DB2BF3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BD47E73E-3874-B839-DC83-261AFA20C9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524278B1-7772-644B-D430-38110EF2F9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17405B8E-2FB7-5565-005C-8216BD9D4C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86819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BB18D3BA-72AC-9421-DB54-38A477F1C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F11E794C-6483-A567-414C-8DBE856DFB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270ED23B-8019-F987-82A7-BD2980459E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CB3761E4-E5E0-B41A-61BB-0B118B466A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1345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D32B0235-77E4-E849-B0BA-DEAF34EF9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A586D681-8FEA-17A4-91EF-CAA5697764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DB16D540-7001-5CF2-278B-4DAC2DB131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03DCA170-2C59-2B4B-316D-4A2BDDDE53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68794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FFE7C077-D563-2F0F-8110-16061301A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64EE5C89-B726-D6E2-1929-DC7ECAC108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5AA03216-F7A1-68E9-F8FE-1280064C83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9FAEB210-83AB-F0FC-A385-30170B4D12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94255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B81EFE58-7CFD-DE30-9D9A-1F34BD74B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D08ED1AC-BD06-4E2D-13FB-B83BCEC656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1BF3C229-424E-7478-DBB6-F468BC57C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DDD036BD-7883-EB85-147A-FF8EB0EE29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72181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095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7D4E08EF-2B5D-3C31-F86B-4B244C782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:notes">
            <a:extLst>
              <a:ext uri="{FF2B5EF4-FFF2-40B4-BE49-F238E27FC236}">
                <a16:creationId xmlns:a16="http://schemas.microsoft.com/office/drawing/2014/main" id="{2B02C82A-BDC0-DD07-0BA9-3F3E9FE870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2:notes">
            <a:extLst>
              <a:ext uri="{FF2B5EF4-FFF2-40B4-BE49-F238E27FC236}">
                <a16:creationId xmlns:a16="http://schemas.microsoft.com/office/drawing/2014/main" id="{8474C22A-E366-C19F-E846-51D76FE95A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22:notes">
            <a:extLst>
              <a:ext uri="{FF2B5EF4-FFF2-40B4-BE49-F238E27FC236}">
                <a16:creationId xmlns:a16="http://schemas.microsoft.com/office/drawing/2014/main" id="{8D3B6A6B-3870-8C66-F3FB-AD9E7D1CD3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7073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>
          <a:extLst>
            <a:ext uri="{FF2B5EF4-FFF2-40B4-BE49-F238E27FC236}">
              <a16:creationId xmlns:a16="http://schemas.microsoft.com/office/drawing/2014/main" id="{C797B331-C713-EAF6-AEEC-EC2FE981D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:notes">
            <a:extLst>
              <a:ext uri="{FF2B5EF4-FFF2-40B4-BE49-F238E27FC236}">
                <a16:creationId xmlns:a16="http://schemas.microsoft.com/office/drawing/2014/main" id="{67265AFD-9C2B-DDAC-75F6-8879F8DECF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46;p8:notes">
            <a:extLst>
              <a:ext uri="{FF2B5EF4-FFF2-40B4-BE49-F238E27FC236}">
                <a16:creationId xmlns:a16="http://schemas.microsoft.com/office/drawing/2014/main" id="{5F00EE84-D520-C84D-0CEE-21F74BD4F9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2100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ctrTitle"/>
          </p:nvPr>
        </p:nvSpPr>
        <p:spPr>
          <a:xfrm>
            <a:off x="914400" y="2623942"/>
            <a:ext cx="10363200" cy="138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ubTitle" idx="1"/>
          </p:nvPr>
        </p:nvSpPr>
        <p:spPr>
          <a:xfrm>
            <a:off x="914400" y="4010558"/>
            <a:ext cx="10363200" cy="675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dt" idx="10"/>
          </p:nvPr>
        </p:nvSpPr>
        <p:spPr>
          <a:xfrm>
            <a:off x="269946" y="6356351"/>
            <a:ext cx="31844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32135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4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4" descr="A black background with a black square&#10;&#10;Description automatically generated with medium confidence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  <a:defRPr sz="280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69946" y="957038"/>
            <a:ext cx="11681252" cy="5169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40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269946" y="6356351"/>
            <a:ext cx="31844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32135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"/>
          <p:cNvSpPr txBox="1">
            <a:spLocks noGrp="1"/>
          </p:cNvSpPr>
          <p:nvPr>
            <p:ph type="title"/>
          </p:nvPr>
        </p:nvSpPr>
        <p:spPr>
          <a:xfrm>
            <a:off x="269946" y="173416"/>
            <a:ext cx="9742556" cy="636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0060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body" idx="1"/>
          </p:nvPr>
        </p:nvSpPr>
        <p:spPr>
          <a:xfrm>
            <a:off x="269946" y="957038"/>
            <a:ext cx="11681252" cy="5169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dt" idx="10"/>
          </p:nvPr>
        </p:nvSpPr>
        <p:spPr>
          <a:xfrm>
            <a:off x="269946" y="6356351"/>
            <a:ext cx="31844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32135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6.jpe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jpe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51.png"/><Relationship Id="rId3" Type="http://schemas.openxmlformats.org/officeDocument/2006/relationships/image" Target="../media/image53.jpeg"/><Relationship Id="rId7" Type="http://schemas.openxmlformats.org/officeDocument/2006/relationships/customXml" Target="../ink/ink1.xml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jpeg"/><Relationship Id="rId11" Type="http://schemas.openxmlformats.org/officeDocument/2006/relationships/image" Target="../media/image58.png"/><Relationship Id="rId5" Type="http://schemas.openxmlformats.org/officeDocument/2006/relationships/image" Target="../media/image55.png"/><Relationship Id="rId15" Type="http://schemas.openxmlformats.org/officeDocument/2006/relationships/image" Target="../media/image34.jpeg"/><Relationship Id="rId10" Type="http://schemas.openxmlformats.org/officeDocument/2006/relationships/image" Target="../media/image52.png"/><Relationship Id="rId4" Type="http://schemas.openxmlformats.org/officeDocument/2006/relationships/image" Target="../media/image54.png"/><Relationship Id="rId9" Type="http://schemas.openxmlformats.org/officeDocument/2006/relationships/image" Target="../media/image57.png"/><Relationship Id="rId14" Type="http://schemas.openxmlformats.org/officeDocument/2006/relationships/image" Target="../media/image60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eg"/><Relationship Id="rId3" Type="http://schemas.openxmlformats.org/officeDocument/2006/relationships/image" Target="../media/image61.jpe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63.png"/><Relationship Id="rId3" Type="http://schemas.openxmlformats.org/officeDocument/2006/relationships/image" Target="../media/image51.png"/><Relationship Id="rId7" Type="http://schemas.microsoft.com/office/2007/relationships/hdphoto" Target="../media/hdphoto1.wdp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52.png"/><Relationship Id="rId5" Type="http://schemas.openxmlformats.org/officeDocument/2006/relationships/image" Target="../media/image66.png"/><Relationship Id="rId10" Type="http://schemas.openxmlformats.org/officeDocument/2006/relationships/image" Target="../media/image69.png"/><Relationship Id="rId4" Type="http://schemas.openxmlformats.org/officeDocument/2006/relationships/image" Target="../media/image65.png"/><Relationship Id="rId9" Type="http://schemas.microsoft.com/office/2007/relationships/hdphoto" Target="../media/hdphoto2.wdp"/><Relationship Id="rId14" Type="http://schemas.openxmlformats.org/officeDocument/2006/relationships/image" Target="../media/image7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jpe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jpeg"/><Relationship Id="rId7" Type="http://schemas.openxmlformats.org/officeDocument/2006/relationships/image" Target="../media/image76.png"/><Relationship Id="rId12" Type="http://schemas.openxmlformats.org/officeDocument/2006/relationships/image" Target="../media/image8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jpe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eg"/><Relationship Id="rId3" Type="http://schemas.openxmlformats.org/officeDocument/2006/relationships/image" Target="../media/image22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jpeg"/><Relationship Id="rId5" Type="http://schemas.openxmlformats.org/officeDocument/2006/relationships/image" Target="../media/image71.jpeg"/><Relationship Id="rId4" Type="http://schemas.openxmlformats.org/officeDocument/2006/relationships/image" Target="../media/image23.png"/><Relationship Id="rId9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7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7" descr="A black and white logo&#10;&#10;Description automatically generated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0" y="5489758"/>
            <a:ext cx="3048000" cy="8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 txBox="1">
            <a:spLocks noGrp="1"/>
          </p:cNvSpPr>
          <p:nvPr>
            <p:ph type="ctrTitle"/>
          </p:nvPr>
        </p:nvSpPr>
        <p:spPr>
          <a:xfrm>
            <a:off x="1037968" y="1916264"/>
            <a:ext cx="10116065" cy="187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4000" dirty="0">
                <a:latin typeface="+mj-lt"/>
                <a:ea typeface="Avenir"/>
                <a:cs typeface="Arial" panose="020B0604020202020204" pitchFamily="34" charset="0"/>
                <a:sym typeface="Avenir"/>
              </a:rPr>
              <a:t>Casco Bay Ecological Monitoring Update</a:t>
            </a:r>
            <a:endParaRPr sz="4000" dirty="0">
              <a:latin typeface="+mj-lt"/>
              <a:ea typeface="Avenir"/>
              <a:cs typeface="Arial" panose="020B0604020202020204" pitchFamily="34" charset="0"/>
              <a:sym typeface="Avenir"/>
            </a:endParaRPr>
          </a:p>
        </p:txBody>
      </p:sp>
      <p:sp>
        <p:nvSpPr>
          <p:cNvPr id="38" name="Google Shape;38;p7"/>
          <p:cNvSpPr txBox="1">
            <a:spLocks noGrp="1"/>
          </p:cNvSpPr>
          <p:nvPr>
            <p:ph type="subTitle" idx="1"/>
          </p:nvPr>
        </p:nvSpPr>
        <p:spPr>
          <a:xfrm>
            <a:off x="1037967" y="4502173"/>
            <a:ext cx="10116063" cy="675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40"/>
              <a:buNone/>
            </a:pPr>
            <a:r>
              <a:rPr lang="en-US" sz="2040" dirty="0">
                <a:latin typeface="+mj-lt"/>
                <a:ea typeface="Avenir"/>
                <a:cs typeface="Arial" panose="020B0604020202020204" pitchFamily="34" charset="0"/>
                <a:sym typeface="Avenir"/>
              </a:rPr>
              <a:t>Fisheries Ecology Lab:</a:t>
            </a:r>
            <a:br>
              <a:rPr lang="en-US" sz="2040" dirty="0">
                <a:latin typeface="+mj-lt"/>
                <a:ea typeface="Avenir"/>
                <a:cs typeface="Arial" panose="020B0604020202020204" pitchFamily="34" charset="0"/>
                <a:sym typeface="Avenir"/>
              </a:rPr>
            </a:br>
            <a:r>
              <a:rPr lang="en-US" sz="2040" dirty="0">
                <a:latin typeface="+mj-lt"/>
                <a:ea typeface="Avenir"/>
                <a:cs typeface="Arial" panose="020B0604020202020204" pitchFamily="34" charset="0"/>
                <a:sym typeface="Avenir"/>
              </a:rPr>
              <a:t>Katie, Graham, Zach, Sam, Aaron</a:t>
            </a:r>
            <a:endParaRPr dirty="0">
              <a:latin typeface="+mj-lt"/>
              <a:ea typeface="Avenir"/>
              <a:cs typeface="Arial" panose="020B0604020202020204" pitchFamily="34" charset="0"/>
              <a:sym typeface="Aven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8E9E10C-CB0C-863F-4580-07EE1C818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C76C1579-9A2B-EBF8-FC5F-D48785E569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Patterns through space and time</a:t>
            </a:r>
            <a:endParaRPr b="1" dirty="0">
              <a:latin typeface="+mj-lt"/>
            </a:endParaRPr>
          </a:p>
        </p:txBody>
      </p:sp>
      <p:sp>
        <p:nvSpPr>
          <p:cNvPr id="46" name="Google Shape;46;p22">
            <a:extLst>
              <a:ext uri="{FF2B5EF4-FFF2-40B4-BE49-F238E27FC236}">
                <a16:creationId xmlns:a16="http://schemas.microsoft.com/office/drawing/2014/main" id="{35A8E063-D5D1-1DC2-05F3-FFC088831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945" y="1341501"/>
            <a:ext cx="7616755" cy="4435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Local </a:t>
            </a:r>
            <a:r>
              <a:rPr lang="en-US" i="1" dirty="0">
                <a:solidFill>
                  <a:srgbClr val="00608A"/>
                </a:solidFill>
                <a:latin typeface="+mj-lt"/>
              </a:rPr>
              <a:t>reflects and drives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global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+mj-lt"/>
              </a:rPr>
              <a:t>Patterns at local scales are often similar to what would be observed at regional or global scales</a:t>
            </a:r>
          </a:p>
          <a:p>
            <a:pPr marL="50800" indent="0">
              <a:buNone/>
            </a:pPr>
            <a:r>
              <a:rPr lang="en-US" sz="800" dirty="0">
                <a:solidFill>
                  <a:schemeClr val="tx1"/>
                </a:solidFill>
                <a:latin typeface="+mj-lt"/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Global </a:t>
            </a:r>
            <a:r>
              <a:rPr lang="en-US" i="1" dirty="0">
                <a:solidFill>
                  <a:srgbClr val="00608A"/>
                </a:solidFill>
                <a:latin typeface="+mj-lt"/>
              </a:rPr>
              <a:t>does not necessarily reflect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local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+mj-lt"/>
              </a:rPr>
              <a:t>Regional or global studies are conducted at scales too large to characterize patterns at local scales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8EE0C7-A25D-1DF5-90B2-BB725A86A76C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oogle Shape;116;p29" descr="A picture containing text, dark, night sky&#10;&#10;Description automatically generated">
            <a:extLst>
              <a:ext uri="{FF2B5EF4-FFF2-40B4-BE49-F238E27FC236}">
                <a16:creationId xmlns:a16="http://schemas.microsoft.com/office/drawing/2014/main" id="{DEABD950-5DFF-15A4-F9DA-F2852922F53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91983" y="2804932"/>
            <a:ext cx="1234488" cy="1248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0;p29" descr="A picture containing projector&#10;&#10;Description automatically generated">
            <a:extLst>
              <a:ext uri="{FF2B5EF4-FFF2-40B4-BE49-F238E27FC236}">
                <a16:creationId xmlns:a16="http://schemas.microsoft.com/office/drawing/2014/main" id="{59827A99-5F2C-192E-08E2-3F7EA0A8B9E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09663" y="4666247"/>
            <a:ext cx="1234487" cy="1253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black and white image of a planet&#10;&#10;AI-generated content may be incorrect.">
            <a:extLst>
              <a:ext uri="{FF2B5EF4-FFF2-40B4-BE49-F238E27FC236}">
                <a16:creationId xmlns:a16="http://schemas.microsoft.com/office/drawing/2014/main" id="{0825803B-63FA-6248-3AC2-9295B5DEAB7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9663" y="995544"/>
            <a:ext cx="1216808" cy="120931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CF9CE1-938D-F421-493C-51D06A337E43}"/>
              </a:ext>
            </a:extLst>
          </p:cNvPr>
          <p:cNvCxnSpPr/>
          <p:nvPr/>
        </p:nvCxnSpPr>
        <p:spPr>
          <a:xfrm>
            <a:off x="9575839" y="2262007"/>
            <a:ext cx="0" cy="542925"/>
          </a:xfrm>
          <a:prstGeom prst="straightConnector1">
            <a:avLst/>
          </a:prstGeom>
          <a:ln w="76200">
            <a:solidFill>
              <a:srgbClr val="24202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F12696-32B1-80CB-7A1E-BC709DFF4365}"/>
              </a:ext>
            </a:extLst>
          </p:cNvPr>
          <p:cNvCxnSpPr/>
          <p:nvPr/>
        </p:nvCxnSpPr>
        <p:spPr>
          <a:xfrm>
            <a:off x="9575839" y="4090807"/>
            <a:ext cx="0" cy="542925"/>
          </a:xfrm>
          <a:prstGeom prst="straightConnector1">
            <a:avLst/>
          </a:prstGeom>
          <a:ln w="76200">
            <a:solidFill>
              <a:srgbClr val="24202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372665-C740-B9C4-A470-BB8D717E5FEE}"/>
              </a:ext>
            </a:extLst>
          </p:cNvPr>
          <p:cNvCxnSpPr>
            <a:cxnSpLocks/>
          </p:cNvCxnSpPr>
          <p:nvPr/>
        </p:nvCxnSpPr>
        <p:spPr>
          <a:xfrm flipV="1">
            <a:off x="9879152" y="2128657"/>
            <a:ext cx="0" cy="54292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AB882C8-C80E-3B40-980D-C5F1C6419184}"/>
              </a:ext>
            </a:extLst>
          </p:cNvPr>
          <p:cNvCxnSpPr>
            <a:cxnSpLocks/>
          </p:cNvCxnSpPr>
          <p:nvPr/>
        </p:nvCxnSpPr>
        <p:spPr>
          <a:xfrm flipV="1">
            <a:off x="9879152" y="3957457"/>
            <a:ext cx="0" cy="54292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621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462F11A7-4538-2934-34BB-577346236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FE3DB12E-DC67-6DE3-7405-1993EAA6DE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Casco Bay and nearshore environments</a:t>
            </a:r>
            <a:endParaRPr b="1" dirty="0">
              <a:latin typeface="+mj-lt"/>
            </a:endParaRPr>
          </a:p>
        </p:txBody>
      </p:sp>
      <p:sp>
        <p:nvSpPr>
          <p:cNvPr id="46" name="Google Shape;46;p22">
            <a:extLst>
              <a:ext uri="{FF2B5EF4-FFF2-40B4-BE49-F238E27FC236}">
                <a16:creationId xmlns:a16="http://schemas.microsoft.com/office/drawing/2014/main" id="{706C1BA3-384A-2FCE-2973-970E7B3BD6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946" y="1057276"/>
            <a:ext cx="5035479" cy="5278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Nearshore environments are important for many species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+mj-lt"/>
              </a:rPr>
              <a:t>Year-round residents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+mj-lt"/>
              </a:rPr>
              <a:t>Spawning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+mj-lt"/>
              </a:rPr>
              <a:t>Nursery area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+mj-lt"/>
              </a:rPr>
              <a:t>Seasonal food availability and temperature refuge</a:t>
            </a:r>
          </a:p>
          <a:p>
            <a:pPr marL="533400" lvl="1" indent="0">
              <a:buNone/>
            </a:pPr>
            <a:r>
              <a:rPr lang="en-US" sz="800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 marL="533400" lvl="1" indent="0">
              <a:buNone/>
            </a:pPr>
            <a:endParaRPr lang="en-US" sz="800" dirty="0">
              <a:solidFill>
                <a:schemeClr val="tx1"/>
              </a:solidFill>
              <a:latin typeface="+mj-lt"/>
            </a:endParaRPr>
          </a:p>
          <a:p>
            <a:pPr marL="50800" indent="0" algn="ctr">
              <a:buNone/>
            </a:pPr>
            <a:r>
              <a:rPr lang="en-US" b="1" dirty="0">
                <a:solidFill>
                  <a:srgbClr val="00608A"/>
                </a:solidFill>
                <a:latin typeface="+mj-lt"/>
              </a:rPr>
              <a:t>Ecosystem-level consequences and economic consequences for changes in the utility of nearshore environments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F4165B-AB2F-1C89-3233-DE22F08B9BC6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73DEF5-DC4F-45A1-A2F4-0340E3528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26685" y="2889166"/>
            <a:ext cx="2286000" cy="100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398E79B-5F90-4260-BF1C-E97038026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77718" y="1412424"/>
            <a:ext cx="2286000" cy="89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EC421A10-87EF-DE47-9CA8-B141BEF30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16343" y="5068438"/>
            <a:ext cx="2286000" cy="111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 fish with black background&#10;&#10;AI-generated content may be incorrect.">
            <a:extLst>
              <a:ext uri="{FF2B5EF4-FFF2-40B4-BE49-F238E27FC236}">
                <a16:creationId xmlns:a16="http://schemas.microsoft.com/office/drawing/2014/main" id="{7DF40A95-A8FE-F18A-2C9D-406C6716663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3117" y="2242296"/>
            <a:ext cx="2286000" cy="920315"/>
          </a:xfrm>
          <a:prstGeom prst="rect">
            <a:avLst/>
          </a:prstGeom>
        </p:spPr>
      </p:pic>
      <p:pic>
        <p:nvPicPr>
          <p:cNvPr id="14" name="Picture 13" descr="A fish with a black background&#10;&#10;AI-generated content may be incorrect.">
            <a:extLst>
              <a:ext uri="{FF2B5EF4-FFF2-40B4-BE49-F238E27FC236}">
                <a16:creationId xmlns:a16="http://schemas.microsoft.com/office/drawing/2014/main" id="{D9A4EA6C-060A-7553-F7E9-583EC96B5E96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3461" y="4631387"/>
            <a:ext cx="2286000" cy="892970"/>
          </a:xfrm>
          <a:prstGeom prst="rect">
            <a:avLst/>
          </a:prstGeom>
        </p:spPr>
      </p:pic>
      <p:pic>
        <p:nvPicPr>
          <p:cNvPr id="16" name="Picture 15" descr="A fish with a black background&#10;&#10;AI-generated content may be incorrect.">
            <a:extLst>
              <a:ext uri="{FF2B5EF4-FFF2-40B4-BE49-F238E27FC236}">
                <a16:creationId xmlns:a16="http://schemas.microsoft.com/office/drawing/2014/main" id="{166E7B49-47D1-3BC8-1C0C-EB39AF026F6D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9289" y="3580653"/>
            <a:ext cx="2286000" cy="1227833"/>
          </a:xfrm>
          <a:prstGeom prst="rect">
            <a:avLst/>
          </a:prstGeom>
        </p:spPr>
      </p:pic>
      <p:pic>
        <p:nvPicPr>
          <p:cNvPr id="18" name="Picture 17" descr="A close up of a shell&#10;&#10;AI-generated content may be incorrect.">
            <a:extLst>
              <a:ext uri="{FF2B5EF4-FFF2-40B4-BE49-F238E27FC236}">
                <a16:creationId xmlns:a16="http://schemas.microsoft.com/office/drawing/2014/main" id="{45F4D56D-083F-EDC8-6FAD-CDFCD1EBE138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8809" y="1431878"/>
            <a:ext cx="457200" cy="714334"/>
          </a:xfrm>
          <a:prstGeom prst="rect">
            <a:avLst/>
          </a:prstGeom>
        </p:spPr>
      </p:pic>
      <p:pic>
        <p:nvPicPr>
          <p:cNvPr id="20" name="Picture 19" descr="A white shell with black background&#10;&#10;AI-generated content may be incorrect.">
            <a:extLst>
              <a:ext uri="{FF2B5EF4-FFF2-40B4-BE49-F238E27FC236}">
                <a16:creationId xmlns:a16="http://schemas.microsoft.com/office/drawing/2014/main" id="{4B82B43A-22D8-A6B5-58D2-8D80D82F0D9E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3661" y="2468231"/>
            <a:ext cx="685800" cy="721781"/>
          </a:xfrm>
          <a:prstGeom prst="rect">
            <a:avLst/>
          </a:prstGeom>
        </p:spPr>
      </p:pic>
      <p:pic>
        <p:nvPicPr>
          <p:cNvPr id="26" name="Picture 25" descr="A fish with a black background&#10;&#10;AI-generated content may be incorrect.">
            <a:extLst>
              <a:ext uri="{FF2B5EF4-FFF2-40B4-BE49-F238E27FC236}">
                <a16:creationId xmlns:a16="http://schemas.microsoft.com/office/drawing/2014/main" id="{FEAB51D1-E8D5-062D-DEDB-6352F7B1E670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6054" y="3822587"/>
            <a:ext cx="2286000" cy="970545"/>
          </a:xfrm>
          <a:prstGeom prst="rect">
            <a:avLst/>
          </a:prstGeom>
        </p:spPr>
      </p:pic>
      <p:pic>
        <p:nvPicPr>
          <p:cNvPr id="28" name="Picture 27" descr="A lobster with claws and claws&#10;&#10;AI-generated content may be incorrect.">
            <a:extLst>
              <a:ext uri="{FF2B5EF4-FFF2-40B4-BE49-F238E27FC236}">
                <a16:creationId xmlns:a16="http://schemas.microsoft.com/office/drawing/2014/main" id="{73AEF286-6369-2B2D-C331-2307B9DA46CE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8515" y="2625622"/>
            <a:ext cx="1828800" cy="2187724"/>
          </a:xfrm>
          <a:prstGeom prst="rect">
            <a:avLst/>
          </a:prstGeom>
        </p:spPr>
      </p:pic>
      <p:pic>
        <p:nvPicPr>
          <p:cNvPr id="30" name="Picture 29" descr="A fish with blue and green stripes&#10;&#10;AI-generated content may be incorrect.">
            <a:extLst>
              <a:ext uri="{FF2B5EF4-FFF2-40B4-BE49-F238E27FC236}">
                <a16:creationId xmlns:a16="http://schemas.microsoft.com/office/drawing/2014/main" id="{EB0739D7-394D-13CA-300B-4228A2E5570B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0218" y="4641862"/>
            <a:ext cx="2286000" cy="769069"/>
          </a:xfrm>
          <a:prstGeom prst="rect">
            <a:avLst/>
          </a:prstGeom>
        </p:spPr>
      </p:pic>
      <p:pic>
        <p:nvPicPr>
          <p:cNvPr id="32" name="Picture 31" descr="A fish with fins on a black background&#10;&#10;AI-generated content may be incorrect.">
            <a:extLst>
              <a:ext uri="{FF2B5EF4-FFF2-40B4-BE49-F238E27FC236}">
                <a16:creationId xmlns:a16="http://schemas.microsoft.com/office/drawing/2014/main" id="{7A116874-8A30-4BDC-898D-B510B878019A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61129" y="3024970"/>
            <a:ext cx="2286000" cy="951011"/>
          </a:xfrm>
          <a:prstGeom prst="rect">
            <a:avLst/>
          </a:prstGeom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77BB9B7B-81FD-3159-1360-CED470BCD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27610" y="1603461"/>
            <a:ext cx="2286000" cy="111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984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539364D5-6A09-2AFF-1634-323AF0614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4B42AB-6E62-7362-F599-E17696E23BB9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3AD70570-D8A7-2F3E-BF92-D08078E69B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REALLY locally focused, still globally relevant</a:t>
            </a:r>
            <a:endParaRPr b="1" dirty="0">
              <a:latin typeface="+mj-lt"/>
            </a:endParaRPr>
          </a:p>
        </p:txBody>
      </p:sp>
      <p:sp>
        <p:nvSpPr>
          <p:cNvPr id="46" name="Google Shape;46;p22">
            <a:extLst>
              <a:ext uri="{FF2B5EF4-FFF2-40B4-BE49-F238E27FC236}">
                <a16:creationId xmlns:a16="http://schemas.microsoft.com/office/drawing/2014/main" id="{9B3A71B0-AAC5-7B94-C754-1EFDFE113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945" y="1151001"/>
            <a:ext cx="6340405" cy="5087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0800" indent="0" algn="ctr">
              <a:buNone/>
            </a:pPr>
            <a:r>
              <a:rPr lang="en-US" sz="2800" dirty="0">
                <a:solidFill>
                  <a:schemeClr val="tx1"/>
                </a:solidFill>
                <a:latin typeface="+mj-lt"/>
              </a:rPr>
              <a:t>We can be </a:t>
            </a:r>
            <a:r>
              <a:rPr lang="en-US" sz="2800" i="1" dirty="0">
                <a:solidFill>
                  <a:schemeClr val="tx1"/>
                </a:solidFill>
                <a:latin typeface="+mj-lt"/>
              </a:rPr>
              <a:t>the</a:t>
            </a:r>
            <a:r>
              <a:rPr lang="en-US" sz="2800" dirty="0">
                <a:solidFill>
                  <a:schemeClr val="tx1"/>
                </a:solidFill>
                <a:latin typeface="+mj-lt"/>
              </a:rPr>
              <a:t> source of information on coastal Maine ecosystems with a well-designed monitoring program</a:t>
            </a:r>
          </a:p>
        </p:txBody>
      </p:sp>
      <p:pic>
        <p:nvPicPr>
          <p:cNvPr id="5" name="Google Shape;78;p11">
            <a:extLst>
              <a:ext uri="{FF2B5EF4-FFF2-40B4-BE49-F238E27FC236}">
                <a16:creationId xmlns:a16="http://schemas.microsoft.com/office/drawing/2014/main" id="{7385EFC2-31F6-55D1-877A-7650DB8CA1B8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19675" y="1151001"/>
            <a:ext cx="4902380" cy="55151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4711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8;p8">
            <a:extLst>
              <a:ext uri="{FF2B5EF4-FFF2-40B4-BE49-F238E27FC236}">
                <a16:creationId xmlns:a16="http://schemas.microsoft.com/office/drawing/2014/main" id="{060AC882-A75F-AE4D-3585-588118551F1D}"/>
              </a:ext>
            </a:extLst>
          </p:cNvPr>
          <p:cNvPicPr preferRelativeResize="0"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3;p1" descr="A black and white logo&#10;&#10;Description automatically generated">
            <a:extLst>
              <a:ext uri="{FF2B5EF4-FFF2-40B4-BE49-F238E27FC236}">
                <a16:creationId xmlns:a16="http://schemas.microsoft.com/office/drawing/2014/main" id="{B034BC37-7CEC-BE40-031D-EC9C429FE7CC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23863" y="245192"/>
            <a:ext cx="2217381" cy="60054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50;p8">
            <a:extLst>
              <a:ext uri="{FF2B5EF4-FFF2-40B4-BE49-F238E27FC236}">
                <a16:creationId xmlns:a16="http://schemas.microsoft.com/office/drawing/2014/main" id="{4A8DA38F-F50C-6E93-CABB-9FAD568534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09081" y="2956263"/>
            <a:ext cx="5081878" cy="750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sz="4600" b="0" dirty="0">
                <a:solidFill>
                  <a:schemeClr val="bg1"/>
                </a:solidFill>
                <a:latin typeface="+mj-lt"/>
                <a:sym typeface="Avenir"/>
              </a:rPr>
              <a:t>CBASS</a:t>
            </a:r>
            <a:r>
              <a:rPr lang="en-US" sz="4600" b="0" baseline="30000" dirty="0">
                <a:solidFill>
                  <a:schemeClr val="bg1"/>
                </a:solidFill>
                <a:latin typeface="+mj-lt"/>
                <a:sym typeface="Avenir"/>
              </a:rPr>
              <a:t>+</a:t>
            </a:r>
          </a:p>
        </p:txBody>
      </p:sp>
      <p:sp>
        <p:nvSpPr>
          <p:cNvPr id="10" name="Google Shape;51;p8">
            <a:extLst>
              <a:ext uri="{FF2B5EF4-FFF2-40B4-BE49-F238E27FC236}">
                <a16:creationId xmlns:a16="http://schemas.microsoft.com/office/drawing/2014/main" id="{9D1B9CF9-9349-87EE-CAC0-5D99E70B0D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09081" y="3707027"/>
            <a:ext cx="5081879" cy="86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>
                <a:solidFill>
                  <a:schemeClr val="bg1"/>
                </a:solidFill>
                <a:latin typeface="+mj-lt"/>
                <a:sym typeface="Avenir"/>
              </a:rPr>
              <a:t>Casco Bay Aquatic Systems Survey and associated projects</a:t>
            </a:r>
            <a:endParaRPr dirty="0">
              <a:solidFill>
                <a:schemeClr val="bg1"/>
              </a:solidFill>
              <a:latin typeface="+mj-lt"/>
              <a:sym typeface="Avenir"/>
            </a:endParaRPr>
          </a:p>
        </p:txBody>
      </p:sp>
      <p:pic>
        <p:nvPicPr>
          <p:cNvPr id="5" name="Google Shape;78;p11">
            <a:extLst>
              <a:ext uri="{FF2B5EF4-FFF2-40B4-BE49-F238E27FC236}">
                <a16:creationId xmlns:a16="http://schemas.microsoft.com/office/drawing/2014/main" id="{7385EFC2-31F6-55D1-877A-7650DB8CA1B8}"/>
              </a:ext>
            </a:extLst>
          </p:cNvPr>
          <p:cNvPicPr preferRelativeResize="0"/>
          <p:nvPr/>
        </p:nvPicPr>
        <p:blipFill rotWithShape="1">
          <a:blip r:embed="rId5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6254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90858900-7BCA-ECEB-B005-FCDE60D69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E7C6043D-CA22-10D6-EC60-2CFD04E4C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Scientists</a:t>
            </a:r>
            <a:endParaRPr b="1" dirty="0">
              <a:latin typeface="+mj-lt"/>
            </a:endParaRPr>
          </a:p>
        </p:txBody>
      </p:sp>
      <p:sp>
        <p:nvSpPr>
          <p:cNvPr id="46" name="Google Shape;46;p22">
            <a:extLst>
              <a:ext uri="{FF2B5EF4-FFF2-40B4-BE49-F238E27FC236}">
                <a16:creationId xmlns:a16="http://schemas.microsoft.com/office/drawing/2014/main" id="{B33FFA84-512E-EF73-146C-A10A8E7C12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945" y="1341501"/>
            <a:ext cx="4549705" cy="515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Fisheries Ecology Lab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GMRI Staff </a:t>
            </a:r>
            <a:r>
              <a:rPr lang="en-US" dirty="0">
                <a:solidFill>
                  <a:srgbClr val="00608A"/>
                </a:solidFill>
                <a:latin typeface="+mj-lt"/>
              </a:rPr>
              <a:t>(come join us!)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REU students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Quahog Bay Conservancy Interns</a:t>
            </a:r>
          </a:p>
          <a:p>
            <a:pPr marL="50800" indent="0">
              <a:buNone/>
            </a:pP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546684-7985-E37E-5089-1CBBE81E83C5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8F15C25-AE0B-C0B3-C077-2C83D9407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51355" y="1341501"/>
            <a:ext cx="6870700" cy="515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440AF38E-0F9E-AFA1-411D-1D640C5AF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26764" y="5072764"/>
            <a:ext cx="1326936" cy="1326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NSF - U.S. National Science Foundation - Home">
            <a:extLst>
              <a:ext uri="{FF2B5EF4-FFF2-40B4-BE49-F238E27FC236}">
                <a16:creationId xmlns:a16="http://schemas.microsoft.com/office/drawing/2014/main" id="{23E29A5D-A68B-A90D-F302-94850FE10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2800" y="4995102"/>
            <a:ext cx="1482260" cy="148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7114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8;p8">
            <a:extLst>
              <a:ext uri="{FF2B5EF4-FFF2-40B4-BE49-F238E27FC236}">
                <a16:creationId xmlns:a16="http://schemas.microsoft.com/office/drawing/2014/main" id="{060AC882-A75F-AE4D-3585-588118551F1D}"/>
              </a:ext>
            </a:extLst>
          </p:cNvPr>
          <p:cNvPicPr preferRelativeResize="0"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3;p1" descr="A black and white logo&#10;&#10;Description automatically generated">
            <a:extLst>
              <a:ext uri="{FF2B5EF4-FFF2-40B4-BE49-F238E27FC236}">
                <a16:creationId xmlns:a16="http://schemas.microsoft.com/office/drawing/2014/main" id="{B034BC37-7CEC-BE40-031D-EC9C429FE7CC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23863" y="245192"/>
            <a:ext cx="2217381" cy="60054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50;p8">
            <a:extLst>
              <a:ext uri="{FF2B5EF4-FFF2-40B4-BE49-F238E27FC236}">
                <a16:creationId xmlns:a16="http://schemas.microsoft.com/office/drawing/2014/main" id="{4A8DA38F-F50C-6E93-CABB-9FAD568534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09081" y="3058058"/>
            <a:ext cx="5081878" cy="741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sz="4600" b="0" dirty="0">
                <a:solidFill>
                  <a:schemeClr val="bg1"/>
                </a:solidFill>
                <a:latin typeface="+mj-lt"/>
                <a:sym typeface="Avenir"/>
              </a:rPr>
              <a:t>Findings</a:t>
            </a:r>
          </a:p>
        </p:txBody>
      </p:sp>
      <p:pic>
        <p:nvPicPr>
          <p:cNvPr id="3" name="Google Shape;78;p11">
            <a:extLst>
              <a:ext uri="{FF2B5EF4-FFF2-40B4-BE49-F238E27FC236}">
                <a16:creationId xmlns:a16="http://schemas.microsoft.com/office/drawing/2014/main" id="{7225DDF2-33C1-730B-5368-412C8FC28A88}"/>
              </a:ext>
            </a:extLst>
          </p:cNvPr>
          <p:cNvPicPr preferRelativeResize="0"/>
          <p:nvPr/>
        </p:nvPicPr>
        <p:blipFill rotWithShape="1">
          <a:blip r:embed="rId5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4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485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C8D2EF39-3810-BD77-63F2-F86092605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C1A83B-0EDC-BEDF-779A-34C2C7115A4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0923" y="1108364"/>
            <a:ext cx="7227620" cy="5424487"/>
          </a:xfrm>
          <a:prstGeom prst="rect">
            <a:avLst/>
          </a:prstGeom>
        </p:spPr>
      </p:pic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6D01076A-C8D3-6F42-1D5A-4EB3F91F7E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Mussel bed mapping / Acoustics</a:t>
            </a:r>
            <a:endParaRPr b="1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4D3EA3-26A1-7A98-159C-0BF83230B54F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3639BF2-F186-3C50-B478-F7E2A5483FBD}"/>
              </a:ext>
            </a:extLst>
          </p:cNvPr>
          <p:cNvSpPr/>
          <p:nvPr/>
        </p:nvSpPr>
        <p:spPr>
          <a:xfrm>
            <a:off x="7608844" y="5124843"/>
            <a:ext cx="329599" cy="303898"/>
          </a:xfrm>
          <a:custGeom>
            <a:avLst/>
            <a:gdLst>
              <a:gd name="csX0" fmla="*/ 0 w 329599"/>
              <a:gd name="csY0" fmla="*/ 99232 h 303898"/>
              <a:gd name="csX1" fmla="*/ 304878 w 329599"/>
              <a:gd name="csY1" fmla="*/ 0 h 303898"/>
              <a:gd name="csX2" fmla="*/ 329599 w 329599"/>
              <a:gd name="csY2" fmla="*/ 93030 h 303898"/>
              <a:gd name="csX3" fmla="*/ 98879 w 329599"/>
              <a:gd name="csY3" fmla="*/ 210867 h 303898"/>
              <a:gd name="csX4" fmla="*/ 123599 w 329599"/>
              <a:gd name="csY4" fmla="*/ 303898 h 303898"/>
              <a:gd name="csX5" fmla="*/ 329599 w 329599"/>
              <a:gd name="csY5" fmla="*/ 198464 h 30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29599" h="303898" extrusionOk="0">
                <a:moveTo>
                  <a:pt x="0" y="99232"/>
                </a:moveTo>
                <a:cubicBezTo>
                  <a:pt x="58976" y="43051"/>
                  <a:pt x="212620" y="61958"/>
                  <a:pt x="304878" y="0"/>
                </a:cubicBezTo>
                <a:cubicBezTo>
                  <a:pt x="322711" y="37944"/>
                  <a:pt x="317188" y="51589"/>
                  <a:pt x="329599" y="93030"/>
                </a:cubicBezTo>
                <a:cubicBezTo>
                  <a:pt x="223448" y="153727"/>
                  <a:pt x="150032" y="184264"/>
                  <a:pt x="98879" y="210867"/>
                </a:cubicBezTo>
                <a:cubicBezTo>
                  <a:pt x="116599" y="250803"/>
                  <a:pt x="106759" y="272065"/>
                  <a:pt x="123599" y="303898"/>
                </a:cubicBezTo>
                <a:cubicBezTo>
                  <a:pt x="179273" y="249826"/>
                  <a:pt x="278058" y="242330"/>
                  <a:pt x="329599" y="198464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4188319413">
                  <a:custGeom>
                    <a:avLst/>
                    <a:gdLst>
                      <a:gd name="connsiteX0" fmla="*/ 0 w 385010"/>
                      <a:gd name="connsiteY0" fmla="*/ 154005 h 471638"/>
                      <a:gd name="connsiteX1" fmla="*/ 356134 w 385010"/>
                      <a:gd name="connsiteY1" fmla="*/ 0 h 471638"/>
                      <a:gd name="connsiteX2" fmla="*/ 385010 w 385010"/>
                      <a:gd name="connsiteY2" fmla="*/ 144379 h 471638"/>
                      <a:gd name="connsiteX3" fmla="*/ 115503 w 385010"/>
                      <a:gd name="connsiteY3" fmla="*/ 327259 h 471638"/>
                      <a:gd name="connsiteX4" fmla="*/ 144379 w 385010"/>
                      <a:gd name="connsiteY4" fmla="*/ 471638 h 471638"/>
                      <a:gd name="connsiteX5" fmla="*/ 385010 w 385010"/>
                      <a:gd name="connsiteY5" fmla="*/ 308009 h 4716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85010" h="471638">
                        <a:moveTo>
                          <a:pt x="0" y="154005"/>
                        </a:moveTo>
                        <a:lnTo>
                          <a:pt x="356134" y="0"/>
                        </a:lnTo>
                        <a:lnTo>
                          <a:pt x="385010" y="144379"/>
                        </a:lnTo>
                        <a:lnTo>
                          <a:pt x="115503" y="327259"/>
                        </a:lnTo>
                        <a:lnTo>
                          <a:pt x="144379" y="471638"/>
                        </a:lnTo>
                        <a:lnTo>
                          <a:pt x="385010" y="308009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5" name="TextBox 59">
            <a:extLst>
              <a:ext uri="{FF2B5EF4-FFF2-40B4-BE49-F238E27FC236}">
                <a16:creationId xmlns:a16="http://schemas.microsoft.com/office/drawing/2014/main" id="{1376D90A-D9B3-13CF-95B7-6B03EA569648}"/>
              </a:ext>
            </a:extLst>
          </p:cNvPr>
          <p:cNvSpPr txBox="1"/>
          <p:nvPr/>
        </p:nvSpPr>
        <p:spPr>
          <a:xfrm>
            <a:off x="7938443" y="5090513"/>
            <a:ext cx="162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Herring acoustics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1A4729C-B69E-FD23-0B50-EFC97BB58B63}"/>
              </a:ext>
            </a:extLst>
          </p:cNvPr>
          <p:cNvSpPr/>
          <p:nvPr/>
        </p:nvSpPr>
        <p:spPr>
          <a:xfrm>
            <a:off x="7787677" y="4936318"/>
            <a:ext cx="118029" cy="10296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3" name="TextBox 55">
            <a:extLst>
              <a:ext uri="{FF2B5EF4-FFF2-40B4-BE49-F238E27FC236}">
                <a16:creationId xmlns:a16="http://schemas.microsoft.com/office/drawing/2014/main" id="{378DE6E9-CE04-8D4E-AF13-841021F4C1CE}"/>
              </a:ext>
            </a:extLst>
          </p:cNvPr>
          <p:cNvSpPr txBox="1"/>
          <p:nvPr/>
        </p:nvSpPr>
        <p:spPr>
          <a:xfrm>
            <a:off x="7930391" y="4830711"/>
            <a:ext cx="162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Mussel acoustics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9B84501-FF21-30CF-6DFF-3CAA694B03C5}"/>
              </a:ext>
            </a:extLst>
          </p:cNvPr>
          <p:cNvGrpSpPr/>
          <p:nvPr/>
        </p:nvGrpSpPr>
        <p:grpSpPr>
          <a:xfrm>
            <a:off x="3236889" y="2414482"/>
            <a:ext cx="2397917" cy="1744300"/>
            <a:chOff x="5450401" y="2386773"/>
            <a:chExt cx="2397917" cy="174430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AB72CA3-3CA1-1D7B-1041-CFDD1551D873}"/>
                </a:ext>
              </a:extLst>
            </p:cNvPr>
            <p:cNvSpPr/>
            <p:nvPr/>
          </p:nvSpPr>
          <p:spPr>
            <a:xfrm>
              <a:off x="5671638" y="3733631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4A74A6E-31E0-DB15-3254-A69DBAA4C16A}"/>
                </a:ext>
              </a:extLst>
            </p:cNvPr>
            <p:cNvSpPr/>
            <p:nvPr/>
          </p:nvSpPr>
          <p:spPr>
            <a:xfrm>
              <a:off x="6013296" y="3465986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609004F0-B882-7577-38AD-53ACBBE2EE2D}"/>
                </a:ext>
              </a:extLst>
            </p:cNvPr>
            <p:cNvSpPr/>
            <p:nvPr/>
          </p:nvSpPr>
          <p:spPr>
            <a:xfrm>
              <a:off x="5450401" y="4028113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45A496B-DD5D-11AE-E6EF-6CA82D464A42}"/>
                </a:ext>
              </a:extLst>
            </p:cNvPr>
            <p:cNvSpPr/>
            <p:nvPr/>
          </p:nvSpPr>
          <p:spPr>
            <a:xfrm>
              <a:off x="7730289" y="2386773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1D8BF33-4470-2949-C70B-AE7D6E00F72A}"/>
                </a:ext>
              </a:extLst>
            </p:cNvPr>
            <p:cNvSpPr/>
            <p:nvPr/>
          </p:nvSpPr>
          <p:spPr>
            <a:xfrm>
              <a:off x="6370789" y="3525052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5DCEE44A-28AB-06B8-14E8-3541FFF3F5F0}"/>
                </a:ext>
              </a:extLst>
            </p:cNvPr>
            <p:cNvSpPr/>
            <p:nvPr/>
          </p:nvSpPr>
          <p:spPr>
            <a:xfrm>
              <a:off x="6044082" y="3591961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67C2349D-48C0-C692-2006-2DA848C4D902}"/>
                </a:ext>
              </a:extLst>
            </p:cNvPr>
            <p:cNvSpPr/>
            <p:nvPr/>
          </p:nvSpPr>
          <p:spPr>
            <a:xfrm>
              <a:off x="7069360" y="2409972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93FB0A8-A7EB-B3FA-D319-B4E2AC77689E}"/>
              </a:ext>
            </a:extLst>
          </p:cNvPr>
          <p:cNvSpPr/>
          <p:nvPr/>
        </p:nvSpPr>
        <p:spPr>
          <a:xfrm>
            <a:off x="3754194" y="4588716"/>
            <a:ext cx="2203308" cy="1860232"/>
          </a:xfrm>
          <a:custGeom>
            <a:avLst/>
            <a:gdLst>
              <a:gd name="csX0" fmla="*/ 0 w 2203308"/>
              <a:gd name="csY0" fmla="*/ 0 h 1860232"/>
              <a:gd name="csX1" fmla="*/ 129606 w 2203308"/>
              <a:gd name="csY1" fmla="*/ 282084 h 1860232"/>
              <a:gd name="csX2" fmla="*/ 205845 w 2203308"/>
              <a:gd name="csY2" fmla="*/ 358323 h 1860232"/>
              <a:gd name="csX3" fmla="*/ 503178 w 2203308"/>
              <a:gd name="csY3" fmla="*/ 83863 h 1860232"/>
              <a:gd name="csX4" fmla="*/ 709023 w 2203308"/>
              <a:gd name="csY4" fmla="*/ 144854 h 1860232"/>
              <a:gd name="csX5" fmla="*/ 236340 w 2203308"/>
              <a:gd name="csY5" fmla="*/ 503178 h 1860232"/>
              <a:gd name="csX6" fmla="*/ 266836 w 2203308"/>
              <a:gd name="csY6" fmla="*/ 709023 h 1860232"/>
              <a:gd name="csX7" fmla="*/ 589556 w 2203308"/>
              <a:gd name="csY7" fmla="*/ 429073 h 1860232"/>
              <a:gd name="csX8" fmla="*/ 899620 w 2203308"/>
              <a:gd name="csY8" fmla="*/ 160102 h 1860232"/>
              <a:gd name="csX9" fmla="*/ 1067346 w 2203308"/>
              <a:gd name="csY9" fmla="*/ 228717 h 1860232"/>
              <a:gd name="csX10" fmla="*/ 730674 w 2203308"/>
              <a:gd name="csY10" fmla="*/ 525134 h 1860232"/>
              <a:gd name="csX11" fmla="*/ 365947 w 2203308"/>
              <a:gd name="csY11" fmla="*/ 846252 h 1860232"/>
              <a:gd name="csX12" fmla="*/ 442186 w 2203308"/>
              <a:gd name="csY12" fmla="*/ 1067346 h 1860232"/>
              <a:gd name="csX13" fmla="*/ 852047 w 2203308"/>
              <a:gd name="csY13" fmla="*/ 686761 h 1860232"/>
              <a:gd name="csX14" fmla="*/ 1296063 w 2203308"/>
              <a:gd name="csY14" fmla="*/ 274460 h 1860232"/>
              <a:gd name="csX15" fmla="*/ 1585772 w 2203308"/>
              <a:gd name="csY15" fmla="*/ 335452 h 1860232"/>
              <a:gd name="csX16" fmla="*/ 1257385 w 2203308"/>
              <a:gd name="csY16" fmla="*/ 624525 h 1860232"/>
              <a:gd name="csX17" fmla="*/ 928998 w 2203308"/>
              <a:gd name="csY17" fmla="*/ 913597 h 1860232"/>
              <a:gd name="csX18" fmla="*/ 503178 w 2203308"/>
              <a:gd name="csY18" fmla="*/ 1288439 h 1860232"/>
              <a:gd name="csX19" fmla="*/ 472682 w 2203308"/>
              <a:gd name="csY19" fmla="*/ 1601020 h 1860232"/>
              <a:gd name="csX20" fmla="*/ 886635 w 2203308"/>
              <a:gd name="csY20" fmla="*/ 1224069 h 1860232"/>
              <a:gd name="csX21" fmla="*/ 1314234 w 2203308"/>
              <a:gd name="csY21" fmla="*/ 834690 h 1860232"/>
              <a:gd name="csX22" fmla="*/ 1837361 w 2203308"/>
              <a:gd name="csY22" fmla="*/ 358323 h 1860232"/>
              <a:gd name="csX23" fmla="*/ 2203308 w 2203308"/>
              <a:gd name="csY23" fmla="*/ 373571 h 1860232"/>
              <a:gd name="csX24" fmla="*/ 1812278 w 2203308"/>
              <a:gd name="csY24" fmla="*/ 715503 h 1860232"/>
              <a:gd name="csX25" fmla="*/ 1404247 w 2203308"/>
              <a:gd name="csY25" fmla="*/ 1072302 h 1860232"/>
              <a:gd name="csX26" fmla="*/ 962213 w 2203308"/>
              <a:gd name="csY26" fmla="*/ 1458834 h 1860232"/>
              <a:gd name="csX27" fmla="*/ 503178 w 2203308"/>
              <a:gd name="csY27" fmla="*/ 1860232 h 1860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2203308" h="1860232" extrusionOk="0">
                <a:moveTo>
                  <a:pt x="0" y="0"/>
                </a:moveTo>
                <a:cubicBezTo>
                  <a:pt x="32596" y="94905"/>
                  <a:pt x="69605" y="166008"/>
                  <a:pt x="129606" y="282084"/>
                </a:cubicBezTo>
                <a:cubicBezTo>
                  <a:pt x="160827" y="316704"/>
                  <a:pt x="185973" y="343543"/>
                  <a:pt x="205845" y="358323"/>
                </a:cubicBezTo>
                <a:cubicBezTo>
                  <a:pt x="275411" y="291742"/>
                  <a:pt x="420794" y="138709"/>
                  <a:pt x="503178" y="83863"/>
                </a:cubicBezTo>
                <a:cubicBezTo>
                  <a:pt x="586159" y="110920"/>
                  <a:pt x="636158" y="120466"/>
                  <a:pt x="709023" y="144854"/>
                </a:cubicBezTo>
                <a:cubicBezTo>
                  <a:pt x="537409" y="238974"/>
                  <a:pt x="352736" y="425653"/>
                  <a:pt x="236340" y="503178"/>
                </a:cubicBezTo>
                <a:cubicBezTo>
                  <a:pt x="249569" y="576481"/>
                  <a:pt x="261680" y="612057"/>
                  <a:pt x="266836" y="709023"/>
                </a:cubicBezTo>
                <a:cubicBezTo>
                  <a:pt x="341676" y="632499"/>
                  <a:pt x="486633" y="514144"/>
                  <a:pt x="589556" y="429073"/>
                </a:cubicBezTo>
                <a:cubicBezTo>
                  <a:pt x="692479" y="344002"/>
                  <a:pt x="818666" y="225502"/>
                  <a:pt x="899620" y="160102"/>
                </a:cubicBezTo>
                <a:cubicBezTo>
                  <a:pt x="952712" y="187679"/>
                  <a:pt x="999164" y="207055"/>
                  <a:pt x="1067346" y="228717"/>
                </a:cubicBezTo>
                <a:cubicBezTo>
                  <a:pt x="939959" y="351548"/>
                  <a:pt x="826019" y="466115"/>
                  <a:pt x="730674" y="525134"/>
                </a:cubicBezTo>
                <a:cubicBezTo>
                  <a:pt x="635329" y="584153"/>
                  <a:pt x="438847" y="775220"/>
                  <a:pt x="365947" y="846252"/>
                </a:cubicBezTo>
                <a:cubicBezTo>
                  <a:pt x="389793" y="922675"/>
                  <a:pt x="418823" y="1025834"/>
                  <a:pt x="442186" y="1067346"/>
                </a:cubicBezTo>
                <a:cubicBezTo>
                  <a:pt x="602731" y="931300"/>
                  <a:pt x="633360" y="852805"/>
                  <a:pt x="852047" y="686761"/>
                </a:cubicBezTo>
                <a:cubicBezTo>
                  <a:pt x="1070734" y="520717"/>
                  <a:pt x="1125436" y="456248"/>
                  <a:pt x="1296063" y="274460"/>
                </a:cubicBezTo>
                <a:cubicBezTo>
                  <a:pt x="1417955" y="306138"/>
                  <a:pt x="1443956" y="301799"/>
                  <a:pt x="1585772" y="335452"/>
                </a:cubicBezTo>
                <a:cubicBezTo>
                  <a:pt x="1457044" y="472995"/>
                  <a:pt x="1362764" y="507478"/>
                  <a:pt x="1257385" y="624525"/>
                </a:cubicBezTo>
                <a:cubicBezTo>
                  <a:pt x="1152006" y="741571"/>
                  <a:pt x="1088417" y="799963"/>
                  <a:pt x="928998" y="913597"/>
                </a:cubicBezTo>
                <a:cubicBezTo>
                  <a:pt x="769580" y="1027231"/>
                  <a:pt x="673440" y="1118674"/>
                  <a:pt x="503178" y="1288439"/>
                </a:cubicBezTo>
                <a:cubicBezTo>
                  <a:pt x="494116" y="1406826"/>
                  <a:pt x="481133" y="1449663"/>
                  <a:pt x="472682" y="1601020"/>
                </a:cubicBezTo>
                <a:cubicBezTo>
                  <a:pt x="648159" y="1465387"/>
                  <a:pt x="771344" y="1347357"/>
                  <a:pt x="886635" y="1224069"/>
                </a:cubicBezTo>
                <a:cubicBezTo>
                  <a:pt x="1001926" y="1100781"/>
                  <a:pt x="1174339" y="998933"/>
                  <a:pt x="1314234" y="834690"/>
                </a:cubicBezTo>
                <a:cubicBezTo>
                  <a:pt x="1454129" y="670447"/>
                  <a:pt x="1618442" y="589788"/>
                  <a:pt x="1837361" y="358323"/>
                </a:cubicBezTo>
                <a:cubicBezTo>
                  <a:pt x="1967956" y="370214"/>
                  <a:pt x="2059266" y="372783"/>
                  <a:pt x="2203308" y="373571"/>
                </a:cubicBezTo>
                <a:cubicBezTo>
                  <a:pt x="2074588" y="501093"/>
                  <a:pt x="1994069" y="532563"/>
                  <a:pt x="1812278" y="715503"/>
                </a:cubicBezTo>
                <a:cubicBezTo>
                  <a:pt x="1630488" y="898443"/>
                  <a:pt x="1572735" y="925183"/>
                  <a:pt x="1404247" y="1072302"/>
                </a:cubicBezTo>
                <a:cubicBezTo>
                  <a:pt x="1235758" y="1219421"/>
                  <a:pt x="1107987" y="1307903"/>
                  <a:pt x="962213" y="1458834"/>
                </a:cubicBezTo>
                <a:cubicBezTo>
                  <a:pt x="816438" y="1609764"/>
                  <a:pt x="693320" y="1674905"/>
                  <a:pt x="503178" y="1860232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732735375">
                  <a:custGeom>
                    <a:avLst/>
                    <a:gdLst>
                      <a:gd name="connsiteX0" fmla="*/ 0 w 2781701"/>
                      <a:gd name="connsiteY0" fmla="*/ 0 h 2348564"/>
                      <a:gd name="connsiteX1" fmla="*/ 163630 w 2781701"/>
                      <a:gd name="connsiteY1" fmla="*/ 356135 h 2348564"/>
                      <a:gd name="connsiteX2" fmla="*/ 259882 w 2781701"/>
                      <a:gd name="connsiteY2" fmla="*/ 452388 h 2348564"/>
                      <a:gd name="connsiteX3" fmla="*/ 635268 w 2781701"/>
                      <a:gd name="connsiteY3" fmla="*/ 105878 h 2348564"/>
                      <a:gd name="connsiteX4" fmla="*/ 895150 w 2781701"/>
                      <a:gd name="connsiteY4" fmla="*/ 182880 h 2348564"/>
                      <a:gd name="connsiteX5" fmla="*/ 298383 w 2781701"/>
                      <a:gd name="connsiteY5" fmla="*/ 635268 h 2348564"/>
                      <a:gd name="connsiteX6" fmla="*/ 336884 w 2781701"/>
                      <a:gd name="connsiteY6" fmla="*/ 895150 h 2348564"/>
                      <a:gd name="connsiteX7" fmla="*/ 1135781 w 2781701"/>
                      <a:gd name="connsiteY7" fmla="*/ 202131 h 2348564"/>
                      <a:gd name="connsiteX8" fmla="*/ 1347537 w 2781701"/>
                      <a:gd name="connsiteY8" fmla="*/ 288758 h 2348564"/>
                      <a:gd name="connsiteX9" fmla="*/ 462013 w 2781701"/>
                      <a:gd name="connsiteY9" fmla="*/ 1068404 h 2348564"/>
                      <a:gd name="connsiteX10" fmla="*/ 558265 w 2781701"/>
                      <a:gd name="connsiteY10" fmla="*/ 1347537 h 2348564"/>
                      <a:gd name="connsiteX11" fmla="*/ 1636295 w 2781701"/>
                      <a:gd name="connsiteY11" fmla="*/ 346510 h 2348564"/>
                      <a:gd name="connsiteX12" fmla="*/ 2002055 w 2781701"/>
                      <a:gd name="connsiteY12" fmla="*/ 423512 h 2348564"/>
                      <a:gd name="connsiteX13" fmla="*/ 635268 w 2781701"/>
                      <a:gd name="connsiteY13" fmla="*/ 1626670 h 2348564"/>
                      <a:gd name="connsiteX14" fmla="*/ 596767 w 2781701"/>
                      <a:gd name="connsiteY14" fmla="*/ 2021306 h 2348564"/>
                      <a:gd name="connsiteX15" fmla="*/ 2319689 w 2781701"/>
                      <a:gd name="connsiteY15" fmla="*/ 452388 h 2348564"/>
                      <a:gd name="connsiteX16" fmla="*/ 2781701 w 2781701"/>
                      <a:gd name="connsiteY16" fmla="*/ 471638 h 2348564"/>
                      <a:gd name="connsiteX17" fmla="*/ 635268 w 2781701"/>
                      <a:gd name="connsiteY17" fmla="*/ 2348564 h 23485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781701" h="2348564">
                        <a:moveTo>
                          <a:pt x="0" y="0"/>
                        </a:moveTo>
                        <a:lnTo>
                          <a:pt x="163630" y="356135"/>
                        </a:lnTo>
                        <a:lnTo>
                          <a:pt x="259882" y="452388"/>
                        </a:lnTo>
                        <a:lnTo>
                          <a:pt x="635268" y="105878"/>
                        </a:lnTo>
                        <a:lnTo>
                          <a:pt x="895150" y="182880"/>
                        </a:lnTo>
                        <a:lnTo>
                          <a:pt x="298383" y="635268"/>
                        </a:lnTo>
                        <a:lnTo>
                          <a:pt x="336884" y="895150"/>
                        </a:lnTo>
                        <a:lnTo>
                          <a:pt x="1135781" y="202131"/>
                        </a:lnTo>
                        <a:lnTo>
                          <a:pt x="1347537" y="288758"/>
                        </a:lnTo>
                        <a:lnTo>
                          <a:pt x="462013" y="1068404"/>
                        </a:lnTo>
                        <a:lnTo>
                          <a:pt x="558265" y="1347537"/>
                        </a:lnTo>
                        <a:lnTo>
                          <a:pt x="1636295" y="346510"/>
                        </a:lnTo>
                        <a:lnTo>
                          <a:pt x="2002055" y="423512"/>
                        </a:lnTo>
                        <a:lnTo>
                          <a:pt x="635268" y="1626670"/>
                        </a:lnTo>
                        <a:lnTo>
                          <a:pt x="596767" y="2021306"/>
                        </a:lnTo>
                        <a:lnTo>
                          <a:pt x="2319689" y="452388"/>
                        </a:lnTo>
                        <a:lnTo>
                          <a:pt x="2781701" y="471638"/>
                        </a:lnTo>
                        <a:lnTo>
                          <a:pt x="635268" y="2348564"/>
                        </a:ln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00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Picture 6">
            <a:extLst>
              <a:ext uri="{FF2B5EF4-FFF2-40B4-BE49-F238E27FC236}">
                <a16:creationId xmlns:a16="http://schemas.microsoft.com/office/drawing/2014/main" id="{1A09489A-3659-4EF0-ECF7-B55B60297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26512" y="1111592"/>
            <a:ext cx="7538976" cy="5653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45;p22">
            <a:extLst>
              <a:ext uri="{FF2B5EF4-FFF2-40B4-BE49-F238E27FC236}">
                <a16:creationId xmlns:a16="http://schemas.microsoft.com/office/drawing/2014/main" id="{71BAFDF4-E701-3259-2498-3BB0A6EEEA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Acoustic echosounders (Fancy depth sounders!)</a:t>
            </a:r>
            <a:endParaRPr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08302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191154E4-4B18-1BF6-CEAE-A5FFD05CB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A4AFEC2-6E06-5F81-6BB6-AD52E3E208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39"/>
          <a:stretch>
            <a:fillRect/>
          </a:stretch>
        </p:blipFill>
        <p:spPr bwMode="auto">
          <a:xfrm>
            <a:off x="352425" y="1305776"/>
            <a:ext cx="3799044" cy="49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C0A2395A-6273-2CF0-52E4-2823CA0B317F}"/>
              </a:ext>
            </a:extLst>
          </p:cNvPr>
          <p:cNvPicPr>
            <a:picLocks noGrp="1"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97366" y="1305776"/>
            <a:ext cx="7724713" cy="4934419"/>
          </a:xfrm>
          <a:prstGeom prst="rect">
            <a:avLst/>
          </a:prstGeom>
          <a:noFill/>
        </p:spPr>
      </p:pic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D7B10141-F40C-6E03-A737-0AE1B9E4AE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Mussel bed mapping</a:t>
            </a:r>
            <a:endParaRPr b="1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F75BF8-A69C-B5BA-A560-C0A00D166FC1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A0151AA-795A-F953-B738-D13A0E2AA5DE}"/>
              </a:ext>
            </a:extLst>
          </p:cNvPr>
          <p:cNvSpPr/>
          <p:nvPr/>
        </p:nvSpPr>
        <p:spPr>
          <a:xfrm>
            <a:off x="11115675" y="3596772"/>
            <a:ext cx="762000" cy="352425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close up of a shell&#10;&#10;AI-generated content may be incorrect.">
            <a:extLst>
              <a:ext uri="{FF2B5EF4-FFF2-40B4-BE49-F238E27FC236}">
                <a16:creationId xmlns:a16="http://schemas.microsoft.com/office/drawing/2014/main" id="{9FE6340D-EF73-AC7F-4B3A-4F2643B3B10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8195" y="98093"/>
            <a:ext cx="640080" cy="1000068"/>
          </a:xfrm>
          <a:prstGeom prst="rect">
            <a:avLst/>
          </a:prstGeom>
        </p:spPr>
      </p:pic>
      <p:pic>
        <p:nvPicPr>
          <p:cNvPr id="11" name="Picture 4" descr="Staff - Gulf of Maine Research Institute">
            <a:extLst>
              <a:ext uri="{FF2B5EF4-FFF2-40B4-BE49-F238E27FC236}">
                <a16:creationId xmlns:a16="http://schemas.microsoft.com/office/drawing/2014/main" id="{A50590C5-2104-6D50-59CC-FE40A88DC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05477" y="5923242"/>
            <a:ext cx="815752" cy="81575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113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A060CBF0-663B-6C11-532A-9503A3EFF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2C1757D-024E-0362-048F-C3BA6CCD63F9}"/>
              </a:ext>
            </a:extLst>
          </p:cNvPr>
          <p:cNvPicPr>
            <a:picLocks noGrp="1"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97366" y="1305776"/>
            <a:ext cx="7724713" cy="4934419"/>
          </a:xfrm>
          <a:prstGeom prst="rect">
            <a:avLst/>
          </a:prstGeom>
          <a:noFill/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2D48589-C267-F710-FA88-87DE5835AC2E}"/>
              </a:ext>
            </a:extLst>
          </p:cNvPr>
          <p:cNvPicPr>
            <a:picLocks noGrp="1"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825" t="5689" r="1031" b="8968"/>
          <a:stretch>
            <a:fillRect/>
          </a:stretch>
        </p:blipFill>
        <p:spPr>
          <a:xfrm>
            <a:off x="4397366" y="1305777"/>
            <a:ext cx="6375409" cy="4959806"/>
          </a:xfrm>
          <a:prstGeom prst="rect">
            <a:avLst/>
          </a:prstGeom>
        </p:spPr>
      </p:pic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4ED6A543-FCD7-B95C-6042-2D8AA55459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Mussel bed mapping</a:t>
            </a:r>
            <a:endParaRPr b="1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322BD4-D747-27DE-3F91-79E31B525945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73CC59-9D00-09B5-5D04-2D50B74E4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9971" y="1305776"/>
            <a:ext cx="3681498" cy="49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CFFC2B8D-49D0-3109-3872-37268F45ECBB}"/>
              </a:ext>
            </a:extLst>
          </p:cNvPr>
          <p:cNvSpPr/>
          <p:nvPr/>
        </p:nvSpPr>
        <p:spPr>
          <a:xfrm>
            <a:off x="11115675" y="3596772"/>
            <a:ext cx="762000" cy="352425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close up of a shell&#10;&#10;AI-generated content may be incorrect.">
            <a:extLst>
              <a:ext uri="{FF2B5EF4-FFF2-40B4-BE49-F238E27FC236}">
                <a16:creationId xmlns:a16="http://schemas.microsoft.com/office/drawing/2014/main" id="{42C788AE-B7F4-6E71-B6F7-EEA232BB7AB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8195" y="98093"/>
            <a:ext cx="640080" cy="1000068"/>
          </a:xfrm>
          <a:prstGeom prst="rect">
            <a:avLst/>
          </a:prstGeom>
        </p:spPr>
      </p:pic>
      <p:pic>
        <p:nvPicPr>
          <p:cNvPr id="11" name="Picture 4" descr="Staff - Gulf of Maine Research Institute">
            <a:extLst>
              <a:ext uri="{FF2B5EF4-FFF2-40B4-BE49-F238E27FC236}">
                <a16:creationId xmlns:a16="http://schemas.microsoft.com/office/drawing/2014/main" id="{82C61C06-D281-AF0E-E7C1-9E80D0052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05477" y="5923242"/>
            <a:ext cx="815752" cy="81575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4602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910523E-281C-213C-86B7-8CC7080C5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7A8285-F62E-A542-1933-5B59320BAA6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0923" y="1108364"/>
            <a:ext cx="7227620" cy="542448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2965A30-161E-1010-E9EE-82B9BDB5D133}"/>
              </a:ext>
            </a:extLst>
          </p:cNvPr>
          <p:cNvSpPr/>
          <p:nvPr/>
        </p:nvSpPr>
        <p:spPr>
          <a:xfrm>
            <a:off x="7787677" y="5511165"/>
            <a:ext cx="118029" cy="10296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4" name="TextBox 58">
            <a:extLst>
              <a:ext uri="{FF2B5EF4-FFF2-40B4-BE49-F238E27FC236}">
                <a16:creationId xmlns:a16="http://schemas.microsoft.com/office/drawing/2014/main" id="{359CC4E4-FCFB-7357-6CED-C5EDC1AB19D9}"/>
              </a:ext>
            </a:extLst>
          </p:cNvPr>
          <p:cNvSpPr txBox="1"/>
          <p:nvPr/>
        </p:nvSpPr>
        <p:spPr>
          <a:xfrm>
            <a:off x="7928987" y="5388353"/>
            <a:ext cx="162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Jigging</a:t>
            </a:r>
          </a:p>
        </p:txBody>
      </p:sp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D07C45DA-3A9B-3AA0-4B4D-D72178ADCA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Jigging</a:t>
            </a:r>
            <a:endParaRPr b="1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34F8DC-D9FB-DE57-DDAF-61041BA3E746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C7A6AEAF-DD00-0A9E-D44D-B27B54588779}"/>
              </a:ext>
            </a:extLst>
          </p:cNvPr>
          <p:cNvSpPr/>
          <p:nvPr/>
        </p:nvSpPr>
        <p:spPr>
          <a:xfrm>
            <a:off x="7608844" y="5124843"/>
            <a:ext cx="329599" cy="303898"/>
          </a:xfrm>
          <a:custGeom>
            <a:avLst/>
            <a:gdLst>
              <a:gd name="csX0" fmla="*/ 0 w 329599"/>
              <a:gd name="csY0" fmla="*/ 99232 h 303898"/>
              <a:gd name="csX1" fmla="*/ 304878 w 329599"/>
              <a:gd name="csY1" fmla="*/ 0 h 303898"/>
              <a:gd name="csX2" fmla="*/ 329599 w 329599"/>
              <a:gd name="csY2" fmla="*/ 93030 h 303898"/>
              <a:gd name="csX3" fmla="*/ 98879 w 329599"/>
              <a:gd name="csY3" fmla="*/ 210867 h 303898"/>
              <a:gd name="csX4" fmla="*/ 123599 w 329599"/>
              <a:gd name="csY4" fmla="*/ 303898 h 303898"/>
              <a:gd name="csX5" fmla="*/ 329599 w 329599"/>
              <a:gd name="csY5" fmla="*/ 198464 h 30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29599" h="303898" extrusionOk="0">
                <a:moveTo>
                  <a:pt x="0" y="99232"/>
                </a:moveTo>
                <a:cubicBezTo>
                  <a:pt x="58976" y="43051"/>
                  <a:pt x="212620" y="61958"/>
                  <a:pt x="304878" y="0"/>
                </a:cubicBezTo>
                <a:cubicBezTo>
                  <a:pt x="322711" y="37944"/>
                  <a:pt x="317188" y="51589"/>
                  <a:pt x="329599" y="93030"/>
                </a:cubicBezTo>
                <a:cubicBezTo>
                  <a:pt x="223448" y="153727"/>
                  <a:pt x="150032" y="184264"/>
                  <a:pt x="98879" y="210867"/>
                </a:cubicBezTo>
                <a:cubicBezTo>
                  <a:pt x="116599" y="250803"/>
                  <a:pt x="106759" y="272065"/>
                  <a:pt x="123599" y="303898"/>
                </a:cubicBezTo>
                <a:cubicBezTo>
                  <a:pt x="179273" y="249826"/>
                  <a:pt x="278058" y="242330"/>
                  <a:pt x="329599" y="198464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4188319413">
                  <a:custGeom>
                    <a:avLst/>
                    <a:gdLst>
                      <a:gd name="connsiteX0" fmla="*/ 0 w 385010"/>
                      <a:gd name="connsiteY0" fmla="*/ 154005 h 471638"/>
                      <a:gd name="connsiteX1" fmla="*/ 356134 w 385010"/>
                      <a:gd name="connsiteY1" fmla="*/ 0 h 471638"/>
                      <a:gd name="connsiteX2" fmla="*/ 385010 w 385010"/>
                      <a:gd name="connsiteY2" fmla="*/ 144379 h 471638"/>
                      <a:gd name="connsiteX3" fmla="*/ 115503 w 385010"/>
                      <a:gd name="connsiteY3" fmla="*/ 327259 h 471638"/>
                      <a:gd name="connsiteX4" fmla="*/ 144379 w 385010"/>
                      <a:gd name="connsiteY4" fmla="*/ 471638 h 471638"/>
                      <a:gd name="connsiteX5" fmla="*/ 385010 w 385010"/>
                      <a:gd name="connsiteY5" fmla="*/ 308009 h 4716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85010" h="471638">
                        <a:moveTo>
                          <a:pt x="0" y="154005"/>
                        </a:moveTo>
                        <a:lnTo>
                          <a:pt x="356134" y="0"/>
                        </a:lnTo>
                        <a:lnTo>
                          <a:pt x="385010" y="144379"/>
                        </a:lnTo>
                        <a:lnTo>
                          <a:pt x="115503" y="327259"/>
                        </a:lnTo>
                        <a:lnTo>
                          <a:pt x="144379" y="471638"/>
                        </a:lnTo>
                        <a:lnTo>
                          <a:pt x="385010" y="308009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5" name="TextBox 59">
            <a:extLst>
              <a:ext uri="{FF2B5EF4-FFF2-40B4-BE49-F238E27FC236}">
                <a16:creationId xmlns:a16="http://schemas.microsoft.com/office/drawing/2014/main" id="{4DD28043-7BA3-9047-775D-A74733FCAF5F}"/>
              </a:ext>
            </a:extLst>
          </p:cNvPr>
          <p:cNvSpPr txBox="1"/>
          <p:nvPr/>
        </p:nvSpPr>
        <p:spPr>
          <a:xfrm>
            <a:off x="7938443" y="5090513"/>
            <a:ext cx="162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Herring acoustics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1EA69F6-BA04-A93B-B552-101E671C7FD4}"/>
              </a:ext>
            </a:extLst>
          </p:cNvPr>
          <p:cNvSpPr/>
          <p:nvPr/>
        </p:nvSpPr>
        <p:spPr>
          <a:xfrm>
            <a:off x="7787677" y="4936318"/>
            <a:ext cx="118029" cy="10296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3" name="TextBox 55">
            <a:extLst>
              <a:ext uri="{FF2B5EF4-FFF2-40B4-BE49-F238E27FC236}">
                <a16:creationId xmlns:a16="http://schemas.microsoft.com/office/drawing/2014/main" id="{19FDEC78-BCC6-1B0B-1C86-0F0BBBFBE445}"/>
              </a:ext>
            </a:extLst>
          </p:cNvPr>
          <p:cNvSpPr txBox="1"/>
          <p:nvPr/>
        </p:nvSpPr>
        <p:spPr>
          <a:xfrm>
            <a:off x="7930391" y="4830711"/>
            <a:ext cx="162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Mussel acoustics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A991168-7681-95E6-4354-D8364A77D5A2}"/>
              </a:ext>
            </a:extLst>
          </p:cNvPr>
          <p:cNvGrpSpPr/>
          <p:nvPr/>
        </p:nvGrpSpPr>
        <p:grpSpPr>
          <a:xfrm>
            <a:off x="3236889" y="2414482"/>
            <a:ext cx="2397917" cy="1744300"/>
            <a:chOff x="5450401" y="2386773"/>
            <a:chExt cx="2397917" cy="174430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F8893D86-C780-4AEA-AE8B-C57073A61902}"/>
                </a:ext>
              </a:extLst>
            </p:cNvPr>
            <p:cNvSpPr/>
            <p:nvPr/>
          </p:nvSpPr>
          <p:spPr>
            <a:xfrm>
              <a:off x="5671638" y="3733631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3FF03F74-E4F2-47E3-B150-513DFD7EF241}"/>
                </a:ext>
              </a:extLst>
            </p:cNvPr>
            <p:cNvSpPr/>
            <p:nvPr/>
          </p:nvSpPr>
          <p:spPr>
            <a:xfrm>
              <a:off x="6013296" y="3465986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363573C0-5627-880A-082C-C3A91392EDE1}"/>
                </a:ext>
              </a:extLst>
            </p:cNvPr>
            <p:cNvSpPr/>
            <p:nvPr/>
          </p:nvSpPr>
          <p:spPr>
            <a:xfrm>
              <a:off x="5450401" y="4028113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9F2BCA72-1702-51A1-DFA7-BD5880166864}"/>
                </a:ext>
              </a:extLst>
            </p:cNvPr>
            <p:cNvSpPr/>
            <p:nvPr/>
          </p:nvSpPr>
          <p:spPr>
            <a:xfrm>
              <a:off x="7730289" y="2386773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D2F3984-B393-213E-7A7F-5C223B95351D}"/>
                </a:ext>
              </a:extLst>
            </p:cNvPr>
            <p:cNvSpPr/>
            <p:nvPr/>
          </p:nvSpPr>
          <p:spPr>
            <a:xfrm>
              <a:off x="6370789" y="3525052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C849EF61-268A-04B7-A0F7-2C9A6B726C9D}"/>
                </a:ext>
              </a:extLst>
            </p:cNvPr>
            <p:cNvSpPr/>
            <p:nvPr/>
          </p:nvSpPr>
          <p:spPr>
            <a:xfrm>
              <a:off x="6044082" y="3591961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9E15283-A952-A883-2F35-CFF353F6FE87}"/>
                </a:ext>
              </a:extLst>
            </p:cNvPr>
            <p:cNvSpPr/>
            <p:nvPr/>
          </p:nvSpPr>
          <p:spPr>
            <a:xfrm>
              <a:off x="7069360" y="2409972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F24D56D-6CAE-934D-B856-92BBB75C816B}"/>
              </a:ext>
            </a:extLst>
          </p:cNvPr>
          <p:cNvSpPr/>
          <p:nvPr/>
        </p:nvSpPr>
        <p:spPr>
          <a:xfrm>
            <a:off x="3754194" y="4588716"/>
            <a:ext cx="2203308" cy="1860232"/>
          </a:xfrm>
          <a:custGeom>
            <a:avLst/>
            <a:gdLst>
              <a:gd name="csX0" fmla="*/ 0 w 2203308"/>
              <a:gd name="csY0" fmla="*/ 0 h 1860232"/>
              <a:gd name="csX1" fmla="*/ 129606 w 2203308"/>
              <a:gd name="csY1" fmla="*/ 282084 h 1860232"/>
              <a:gd name="csX2" fmla="*/ 205845 w 2203308"/>
              <a:gd name="csY2" fmla="*/ 358323 h 1860232"/>
              <a:gd name="csX3" fmla="*/ 503178 w 2203308"/>
              <a:gd name="csY3" fmla="*/ 83863 h 1860232"/>
              <a:gd name="csX4" fmla="*/ 709023 w 2203308"/>
              <a:gd name="csY4" fmla="*/ 144854 h 1860232"/>
              <a:gd name="csX5" fmla="*/ 236340 w 2203308"/>
              <a:gd name="csY5" fmla="*/ 503178 h 1860232"/>
              <a:gd name="csX6" fmla="*/ 266836 w 2203308"/>
              <a:gd name="csY6" fmla="*/ 709023 h 1860232"/>
              <a:gd name="csX7" fmla="*/ 589556 w 2203308"/>
              <a:gd name="csY7" fmla="*/ 429073 h 1860232"/>
              <a:gd name="csX8" fmla="*/ 899620 w 2203308"/>
              <a:gd name="csY8" fmla="*/ 160102 h 1860232"/>
              <a:gd name="csX9" fmla="*/ 1067346 w 2203308"/>
              <a:gd name="csY9" fmla="*/ 228717 h 1860232"/>
              <a:gd name="csX10" fmla="*/ 730674 w 2203308"/>
              <a:gd name="csY10" fmla="*/ 525134 h 1860232"/>
              <a:gd name="csX11" fmla="*/ 365947 w 2203308"/>
              <a:gd name="csY11" fmla="*/ 846252 h 1860232"/>
              <a:gd name="csX12" fmla="*/ 442186 w 2203308"/>
              <a:gd name="csY12" fmla="*/ 1067346 h 1860232"/>
              <a:gd name="csX13" fmla="*/ 852047 w 2203308"/>
              <a:gd name="csY13" fmla="*/ 686761 h 1860232"/>
              <a:gd name="csX14" fmla="*/ 1296063 w 2203308"/>
              <a:gd name="csY14" fmla="*/ 274460 h 1860232"/>
              <a:gd name="csX15" fmla="*/ 1585772 w 2203308"/>
              <a:gd name="csY15" fmla="*/ 335452 h 1860232"/>
              <a:gd name="csX16" fmla="*/ 1257385 w 2203308"/>
              <a:gd name="csY16" fmla="*/ 624525 h 1860232"/>
              <a:gd name="csX17" fmla="*/ 928998 w 2203308"/>
              <a:gd name="csY17" fmla="*/ 913597 h 1860232"/>
              <a:gd name="csX18" fmla="*/ 503178 w 2203308"/>
              <a:gd name="csY18" fmla="*/ 1288439 h 1860232"/>
              <a:gd name="csX19" fmla="*/ 472682 w 2203308"/>
              <a:gd name="csY19" fmla="*/ 1601020 h 1860232"/>
              <a:gd name="csX20" fmla="*/ 886635 w 2203308"/>
              <a:gd name="csY20" fmla="*/ 1224069 h 1860232"/>
              <a:gd name="csX21" fmla="*/ 1314234 w 2203308"/>
              <a:gd name="csY21" fmla="*/ 834690 h 1860232"/>
              <a:gd name="csX22" fmla="*/ 1837361 w 2203308"/>
              <a:gd name="csY22" fmla="*/ 358323 h 1860232"/>
              <a:gd name="csX23" fmla="*/ 2203308 w 2203308"/>
              <a:gd name="csY23" fmla="*/ 373571 h 1860232"/>
              <a:gd name="csX24" fmla="*/ 1812278 w 2203308"/>
              <a:gd name="csY24" fmla="*/ 715503 h 1860232"/>
              <a:gd name="csX25" fmla="*/ 1404247 w 2203308"/>
              <a:gd name="csY25" fmla="*/ 1072302 h 1860232"/>
              <a:gd name="csX26" fmla="*/ 962213 w 2203308"/>
              <a:gd name="csY26" fmla="*/ 1458834 h 1860232"/>
              <a:gd name="csX27" fmla="*/ 503178 w 2203308"/>
              <a:gd name="csY27" fmla="*/ 1860232 h 1860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2203308" h="1860232" extrusionOk="0">
                <a:moveTo>
                  <a:pt x="0" y="0"/>
                </a:moveTo>
                <a:cubicBezTo>
                  <a:pt x="32596" y="94905"/>
                  <a:pt x="69605" y="166008"/>
                  <a:pt x="129606" y="282084"/>
                </a:cubicBezTo>
                <a:cubicBezTo>
                  <a:pt x="160827" y="316704"/>
                  <a:pt x="185973" y="343543"/>
                  <a:pt x="205845" y="358323"/>
                </a:cubicBezTo>
                <a:cubicBezTo>
                  <a:pt x="275411" y="291742"/>
                  <a:pt x="420794" y="138709"/>
                  <a:pt x="503178" y="83863"/>
                </a:cubicBezTo>
                <a:cubicBezTo>
                  <a:pt x="586159" y="110920"/>
                  <a:pt x="636158" y="120466"/>
                  <a:pt x="709023" y="144854"/>
                </a:cubicBezTo>
                <a:cubicBezTo>
                  <a:pt x="537409" y="238974"/>
                  <a:pt x="352736" y="425653"/>
                  <a:pt x="236340" y="503178"/>
                </a:cubicBezTo>
                <a:cubicBezTo>
                  <a:pt x="249569" y="576481"/>
                  <a:pt x="261680" y="612057"/>
                  <a:pt x="266836" y="709023"/>
                </a:cubicBezTo>
                <a:cubicBezTo>
                  <a:pt x="341676" y="632499"/>
                  <a:pt x="486633" y="514144"/>
                  <a:pt x="589556" y="429073"/>
                </a:cubicBezTo>
                <a:cubicBezTo>
                  <a:pt x="692479" y="344002"/>
                  <a:pt x="818666" y="225502"/>
                  <a:pt x="899620" y="160102"/>
                </a:cubicBezTo>
                <a:cubicBezTo>
                  <a:pt x="952712" y="187679"/>
                  <a:pt x="999164" y="207055"/>
                  <a:pt x="1067346" y="228717"/>
                </a:cubicBezTo>
                <a:cubicBezTo>
                  <a:pt x="939959" y="351548"/>
                  <a:pt x="826019" y="466115"/>
                  <a:pt x="730674" y="525134"/>
                </a:cubicBezTo>
                <a:cubicBezTo>
                  <a:pt x="635329" y="584153"/>
                  <a:pt x="438847" y="775220"/>
                  <a:pt x="365947" y="846252"/>
                </a:cubicBezTo>
                <a:cubicBezTo>
                  <a:pt x="389793" y="922675"/>
                  <a:pt x="418823" y="1025834"/>
                  <a:pt x="442186" y="1067346"/>
                </a:cubicBezTo>
                <a:cubicBezTo>
                  <a:pt x="602731" y="931300"/>
                  <a:pt x="633360" y="852805"/>
                  <a:pt x="852047" y="686761"/>
                </a:cubicBezTo>
                <a:cubicBezTo>
                  <a:pt x="1070734" y="520717"/>
                  <a:pt x="1125436" y="456248"/>
                  <a:pt x="1296063" y="274460"/>
                </a:cubicBezTo>
                <a:cubicBezTo>
                  <a:pt x="1417955" y="306138"/>
                  <a:pt x="1443956" y="301799"/>
                  <a:pt x="1585772" y="335452"/>
                </a:cubicBezTo>
                <a:cubicBezTo>
                  <a:pt x="1457044" y="472995"/>
                  <a:pt x="1362764" y="507478"/>
                  <a:pt x="1257385" y="624525"/>
                </a:cubicBezTo>
                <a:cubicBezTo>
                  <a:pt x="1152006" y="741571"/>
                  <a:pt x="1088417" y="799963"/>
                  <a:pt x="928998" y="913597"/>
                </a:cubicBezTo>
                <a:cubicBezTo>
                  <a:pt x="769580" y="1027231"/>
                  <a:pt x="673440" y="1118674"/>
                  <a:pt x="503178" y="1288439"/>
                </a:cubicBezTo>
                <a:cubicBezTo>
                  <a:pt x="494116" y="1406826"/>
                  <a:pt x="481133" y="1449663"/>
                  <a:pt x="472682" y="1601020"/>
                </a:cubicBezTo>
                <a:cubicBezTo>
                  <a:pt x="648159" y="1465387"/>
                  <a:pt x="771344" y="1347357"/>
                  <a:pt x="886635" y="1224069"/>
                </a:cubicBezTo>
                <a:cubicBezTo>
                  <a:pt x="1001926" y="1100781"/>
                  <a:pt x="1174339" y="998933"/>
                  <a:pt x="1314234" y="834690"/>
                </a:cubicBezTo>
                <a:cubicBezTo>
                  <a:pt x="1454129" y="670447"/>
                  <a:pt x="1618442" y="589788"/>
                  <a:pt x="1837361" y="358323"/>
                </a:cubicBezTo>
                <a:cubicBezTo>
                  <a:pt x="1967956" y="370214"/>
                  <a:pt x="2059266" y="372783"/>
                  <a:pt x="2203308" y="373571"/>
                </a:cubicBezTo>
                <a:cubicBezTo>
                  <a:pt x="2074588" y="501093"/>
                  <a:pt x="1994069" y="532563"/>
                  <a:pt x="1812278" y="715503"/>
                </a:cubicBezTo>
                <a:cubicBezTo>
                  <a:pt x="1630488" y="898443"/>
                  <a:pt x="1572735" y="925183"/>
                  <a:pt x="1404247" y="1072302"/>
                </a:cubicBezTo>
                <a:cubicBezTo>
                  <a:pt x="1235758" y="1219421"/>
                  <a:pt x="1107987" y="1307903"/>
                  <a:pt x="962213" y="1458834"/>
                </a:cubicBezTo>
                <a:cubicBezTo>
                  <a:pt x="816438" y="1609764"/>
                  <a:pt x="693320" y="1674905"/>
                  <a:pt x="503178" y="1860232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732735375">
                  <a:custGeom>
                    <a:avLst/>
                    <a:gdLst>
                      <a:gd name="connsiteX0" fmla="*/ 0 w 2781701"/>
                      <a:gd name="connsiteY0" fmla="*/ 0 h 2348564"/>
                      <a:gd name="connsiteX1" fmla="*/ 163630 w 2781701"/>
                      <a:gd name="connsiteY1" fmla="*/ 356135 h 2348564"/>
                      <a:gd name="connsiteX2" fmla="*/ 259882 w 2781701"/>
                      <a:gd name="connsiteY2" fmla="*/ 452388 h 2348564"/>
                      <a:gd name="connsiteX3" fmla="*/ 635268 w 2781701"/>
                      <a:gd name="connsiteY3" fmla="*/ 105878 h 2348564"/>
                      <a:gd name="connsiteX4" fmla="*/ 895150 w 2781701"/>
                      <a:gd name="connsiteY4" fmla="*/ 182880 h 2348564"/>
                      <a:gd name="connsiteX5" fmla="*/ 298383 w 2781701"/>
                      <a:gd name="connsiteY5" fmla="*/ 635268 h 2348564"/>
                      <a:gd name="connsiteX6" fmla="*/ 336884 w 2781701"/>
                      <a:gd name="connsiteY6" fmla="*/ 895150 h 2348564"/>
                      <a:gd name="connsiteX7" fmla="*/ 1135781 w 2781701"/>
                      <a:gd name="connsiteY7" fmla="*/ 202131 h 2348564"/>
                      <a:gd name="connsiteX8" fmla="*/ 1347537 w 2781701"/>
                      <a:gd name="connsiteY8" fmla="*/ 288758 h 2348564"/>
                      <a:gd name="connsiteX9" fmla="*/ 462013 w 2781701"/>
                      <a:gd name="connsiteY9" fmla="*/ 1068404 h 2348564"/>
                      <a:gd name="connsiteX10" fmla="*/ 558265 w 2781701"/>
                      <a:gd name="connsiteY10" fmla="*/ 1347537 h 2348564"/>
                      <a:gd name="connsiteX11" fmla="*/ 1636295 w 2781701"/>
                      <a:gd name="connsiteY11" fmla="*/ 346510 h 2348564"/>
                      <a:gd name="connsiteX12" fmla="*/ 2002055 w 2781701"/>
                      <a:gd name="connsiteY12" fmla="*/ 423512 h 2348564"/>
                      <a:gd name="connsiteX13" fmla="*/ 635268 w 2781701"/>
                      <a:gd name="connsiteY13" fmla="*/ 1626670 h 2348564"/>
                      <a:gd name="connsiteX14" fmla="*/ 596767 w 2781701"/>
                      <a:gd name="connsiteY14" fmla="*/ 2021306 h 2348564"/>
                      <a:gd name="connsiteX15" fmla="*/ 2319689 w 2781701"/>
                      <a:gd name="connsiteY15" fmla="*/ 452388 h 2348564"/>
                      <a:gd name="connsiteX16" fmla="*/ 2781701 w 2781701"/>
                      <a:gd name="connsiteY16" fmla="*/ 471638 h 2348564"/>
                      <a:gd name="connsiteX17" fmla="*/ 635268 w 2781701"/>
                      <a:gd name="connsiteY17" fmla="*/ 2348564 h 23485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781701" h="2348564">
                        <a:moveTo>
                          <a:pt x="0" y="0"/>
                        </a:moveTo>
                        <a:lnTo>
                          <a:pt x="163630" y="356135"/>
                        </a:lnTo>
                        <a:lnTo>
                          <a:pt x="259882" y="452388"/>
                        </a:lnTo>
                        <a:lnTo>
                          <a:pt x="635268" y="105878"/>
                        </a:lnTo>
                        <a:lnTo>
                          <a:pt x="895150" y="182880"/>
                        </a:lnTo>
                        <a:lnTo>
                          <a:pt x="298383" y="635268"/>
                        </a:lnTo>
                        <a:lnTo>
                          <a:pt x="336884" y="895150"/>
                        </a:lnTo>
                        <a:lnTo>
                          <a:pt x="1135781" y="202131"/>
                        </a:lnTo>
                        <a:lnTo>
                          <a:pt x="1347537" y="288758"/>
                        </a:lnTo>
                        <a:lnTo>
                          <a:pt x="462013" y="1068404"/>
                        </a:lnTo>
                        <a:lnTo>
                          <a:pt x="558265" y="1347537"/>
                        </a:lnTo>
                        <a:lnTo>
                          <a:pt x="1636295" y="346510"/>
                        </a:lnTo>
                        <a:lnTo>
                          <a:pt x="2002055" y="423512"/>
                        </a:lnTo>
                        <a:lnTo>
                          <a:pt x="635268" y="1626670"/>
                        </a:lnTo>
                        <a:lnTo>
                          <a:pt x="596767" y="2021306"/>
                        </a:lnTo>
                        <a:lnTo>
                          <a:pt x="2319689" y="452388"/>
                        </a:lnTo>
                        <a:lnTo>
                          <a:pt x="2781701" y="471638"/>
                        </a:lnTo>
                        <a:lnTo>
                          <a:pt x="635268" y="2348564"/>
                        </a:ln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106CC87-1D94-E1BC-CDB5-EA66A0820502}"/>
              </a:ext>
            </a:extLst>
          </p:cNvPr>
          <p:cNvGrpSpPr/>
          <p:nvPr/>
        </p:nvGrpSpPr>
        <p:grpSpPr>
          <a:xfrm>
            <a:off x="4033731" y="4760243"/>
            <a:ext cx="1808139" cy="1519701"/>
            <a:chOff x="6247243" y="4732534"/>
            <a:chExt cx="1808139" cy="15197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D0F3900-7F60-167B-8338-BD5B8BCBE7DE}"/>
                </a:ext>
              </a:extLst>
            </p:cNvPr>
            <p:cNvSpPr/>
            <p:nvPr/>
          </p:nvSpPr>
          <p:spPr>
            <a:xfrm>
              <a:off x="6247243" y="5175994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E41F272-65C8-9CE2-A845-90294FA54DEB}"/>
                </a:ext>
              </a:extLst>
            </p:cNvPr>
            <p:cNvSpPr/>
            <p:nvPr/>
          </p:nvSpPr>
          <p:spPr>
            <a:xfrm>
              <a:off x="6404806" y="5318308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C9B90DF-0C19-6DEE-82EA-804E5575C1DA}"/>
                </a:ext>
              </a:extLst>
            </p:cNvPr>
            <p:cNvSpPr/>
            <p:nvPr/>
          </p:nvSpPr>
          <p:spPr>
            <a:xfrm>
              <a:off x="6418786" y="5515258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E4704F1-8250-8EC5-6EFA-01E63FFC661A}"/>
                </a:ext>
              </a:extLst>
            </p:cNvPr>
            <p:cNvSpPr/>
            <p:nvPr/>
          </p:nvSpPr>
          <p:spPr>
            <a:xfrm>
              <a:off x="6402266" y="5864687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25A5F15-5DC0-BED3-CAE4-B1A28D0A01DB}"/>
                </a:ext>
              </a:extLst>
            </p:cNvPr>
            <p:cNvSpPr/>
            <p:nvPr/>
          </p:nvSpPr>
          <p:spPr>
            <a:xfrm>
              <a:off x="6599218" y="6153124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108DD26-381D-76F0-BB1B-88C5FEDB10BD}"/>
                </a:ext>
              </a:extLst>
            </p:cNvPr>
            <p:cNvSpPr/>
            <p:nvPr/>
          </p:nvSpPr>
          <p:spPr>
            <a:xfrm>
              <a:off x="6918151" y="5892641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3CB15B2-B95A-C8BE-2BB8-7B41A369D89A}"/>
                </a:ext>
              </a:extLst>
            </p:cNvPr>
            <p:cNvSpPr/>
            <p:nvPr/>
          </p:nvSpPr>
          <p:spPr>
            <a:xfrm>
              <a:off x="7282830" y="5487305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42C7CCF-CAD5-DFA4-7E4C-E30DFD352ACB}"/>
                </a:ext>
              </a:extLst>
            </p:cNvPr>
            <p:cNvSpPr/>
            <p:nvPr/>
          </p:nvSpPr>
          <p:spPr>
            <a:xfrm>
              <a:off x="7365423" y="5562274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23C33BC-DC25-0946-7124-B17EA47CA3E6}"/>
                </a:ext>
              </a:extLst>
            </p:cNvPr>
            <p:cNvSpPr/>
            <p:nvPr/>
          </p:nvSpPr>
          <p:spPr>
            <a:xfrm>
              <a:off x="7531877" y="5446645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75B7FCE-E24D-75AB-B5B4-67B5BD3A5C71}"/>
                </a:ext>
              </a:extLst>
            </p:cNvPr>
            <p:cNvSpPr/>
            <p:nvPr/>
          </p:nvSpPr>
          <p:spPr>
            <a:xfrm>
              <a:off x="7422601" y="5405983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2B32132-651D-20B4-D1D7-46606A050B6E}"/>
                </a:ext>
              </a:extLst>
            </p:cNvPr>
            <p:cNvSpPr/>
            <p:nvPr/>
          </p:nvSpPr>
          <p:spPr>
            <a:xfrm>
              <a:off x="7383211" y="4985397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BFC475B-8ED6-2F9F-22B8-986E4B49446E}"/>
                </a:ext>
              </a:extLst>
            </p:cNvPr>
            <p:cNvSpPr/>
            <p:nvPr/>
          </p:nvSpPr>
          <p:spPr>
            <a:xfrm>
              <a:off x="7603032" y="4831648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2FB8A06C-F1F7-9557-F600-EBBA0868AD80}"/>
                </a:ext>
              </a:extLst>
            </p:cNvPr>
            <p:cNvSpPr/>
            <p:nvPr/>
          </p:nvSpPr>
          <p:spPr>
            <a:xfrm>
              <a:off x="7655131" y="4975232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3387B13B-995E-FF7C-E330-F6E3C0DF1E1C}"/>
                </a:ext>
              </a:extLst>
            </p:cNvPr>
            <p:cNvSpPr/>
            <p:nvPr/>
          </p:nvSpPr>
          <p:spPr>
            <a:xfrm>
              <a:off x="7911799" y="5010810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4D1BFF96-5FF6-18F9-DE6D-73709CD9F16D}"/>
                </a:ext>
              </a:extLst>
            </p:cNvPr>
            <p:cNvSpPr/>
            <p:nvPr/>
          </p:nvSpPr>
          <p:spPr>
            <a:xfrm>
              <a:off x="7948647" y="5131522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19AED210-DC0D-44C8-7515-5D72FA1BD711}"/>
                </a:ext>
              </a:extLst>
            </p:cNvPr>
            <p:cNvSpPr/>
            <p:nvPr/>
          </p:nvSpPr>
          <p:spPr>
            <a:xfrm>
              <a:off x="6582693" y="4886285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2196F732-D220-1C4E-B6AA-0AE9030AC16D}"/>
                </a:ext>
              </a:extLst>
            </p:cNvPr>
            <p:cNvSpPr/>
            <p:nvPr/>
          </p:nvSpPr>
          <p:spPr>
            <a:xfrm>
              <a:off x="6558551" y="4732534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44605AA-F991-D2F1-7819-610661475028}"/>
                </a:ext>
              </a:extLst>
            </p:cNvPr>
            <p:cNvSpPr/>
            <p:nvPr/>
          </p:nvSpPr>
          <p:spPr>
            <a:xfrm>
              <a:off x="7007091" y="4998100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E86BE4D-4CDB-BEE3-21B9-4C1BDBCCDF85}"/>
                </a:ext>
              </a:extLst>
            </p:cNvPr>
            <p:cNvSpPr/>
            <p:nvPr/>
          </p:nvSpPr>
          <p:spPr>
            <a:xfrm>
              <a:off x="6830469" y="5431392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FE0AE7C4-9EFC-4799-D812-6F58114CDB9C}"/>
                </a:ext>
              </a:extLst>
            </p:cNvPr>
            <p:cNvSpPr/>
            <p:nvPr/>
          </p:nvSpPr>
          <p:spPr>
            <a:xfrm>
              <a:off x="7019794" y="5544483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9283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3CED494C-22CB-C22C-6B53-1C957669B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on a boat with fish in the air&#10;&#10;AI-generated content may be incorrect.">
            <a:extLst>
              <a:ext uri="{FF2B5EF4-FFF2-40B4-BE49-F238E27FC236}">
                <a16:creationId xmlns:a16="http://schemas.microsoft.com/office/drawing/2014/main" id="{395F5A99-E156-FFD7-CB7B-147B978C5E8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2599" y="1294978"/>
            <a:ext cx="3282864" cy="4919459"/>
          </a:xfrm>
          <a:prstGeom prst="rect">
            <a:avLst/>
          </a:prstGeom>
        </p:spPr>
      </p:pic>
      <p:pic>
        <p:nvPicPr>
          <p:cNvPr id="17" name="Picture 16" descr="A screenshot of a graph&#10;&#10;AI-generated content may be incorrect.">
            <a:extLst>
              <a:ext uri="{FF2B5EF4-FFF2-40B4-BE49-F238E27FC236}">
                <a16:creationId xmlns:a16="http://schemas.microsoft.com/office/drawing/2014/main" id="{6D8C4C5B-B42D-AC21-ADAB-AE63AFB2334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9871" y="924678"/>
            <a:ext cx="8182331" cy="5795818"/>
          </a:xfrm>
          <a:prstGeom prst="rect">
            <a:avLst/>
          </a:prstGeom>
        </p:spPr>
      </p:pic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F650A6DA-D7E2-CB25-6608-560F339106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Community Ecology</a:t>
            </a:r>
            <a:endParaRPr b="1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4D5331-17FB-EC2B-45AE-CCAF9CD943A1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fish with a black background&#10;&#10;AI-generated content may be incorrect.">
            <a:extLst>
              <a:ext uri="{FF2B5EF4-FFF2-40B4-BE49-F238E27FC236}">
                <a16:creationId xmlns:a16="http://schemas.microsoft.com/office/drawing/2014/main" id="{DD19E8AD-D71A-3C4C-D2BE-D18E3B909C8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6" y="50022"/>
            <a:ext cx="1280160" cy="543505"/>
          </a:xfrm>
          <a:prstGeom prst="rect">
            <a:avLst/>
          </a:prstGeom>
        </p:spPr>
      </p:pic>
      <p:pic>
        <p:nvPicPr>
          <p:cNvPr id="5" name="Picture 4" descr="A fish with fins on a black background&#10;&#10;AI-generated content may be incorrect.">
            <a:extLst>
              <a:ext uri="{FF2B5EF4-FFF2-40B4-BE49-F238E27FC236}">
                <a16:creationId xmlns:a16="http://schemas.microsoft.com/office/drawing/2014/main" id="{FA226D6B-A4C9-DEE9-7A43-BB2D479EC45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0718" y="46256"/>
            <a:ext cx="1280160" cy="532566"/>
          </a:xfrm>
          <a:prstGeom prst="rect">
            <a:avLst/>
          </a:prstGeom>
        </p:spPr>
      </p:pic>
      <p:pic>
        <p:nvPicPr>
          <p:cNvPr id="9" name="Picture 8" descr="A fish with blue and green stripes&#10;&#10;AI-generated content may be incorrect.">
            <a:extLst>
              <a:ext uri="{FF2B5EF4-FFF2-40B4-BE49-F238E27FC236}">
                <a16:creationId xmlns:a16="http://schemas.microsoft.com/office/drawing/2014/main" id="{2D51DD27-8DBC-68DB-91AA-7E4F289EC99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1840" y="79334"/>
            <a:ext cx="1280160" cy="430679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25D468B8-81F3-D88F-09CC-3BD58CC42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91279" y="37508"/>
            <a:ext cx="1280160" cy="625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Staff - Gulf of Maine Research Institute">
            <a:extLst>
              <a:ext uri="{FF2B5EF4-FFF2-40B4-BE49-F238E27FC236}">
                <a16:creationId xmlns:a16="http://schemas.microsoft.com/office/drawing/2014/main" id="{00CEECBC-E34C-1FCF-3E0B-E2DE8DDE2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05477" y="5923242"/>
            <a:ext cx="815752" cy="81575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43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40767986-FC7A-98D1-8D7C-AC08CF793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taff - Gulf of Maine Research Institute">
            <a:extLst>
              <a:ext uri="{FF2B5EF4-FFF2-40B4-BE49-F238E27FC236}">
                <a16:creationId xmlns:a16="http://schemas.microsoft.com/office/drawing/2014/main" id="{53682EBB-4F54-F917-F097-92F6C492D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05477" y="5923242"/>
            <a:ext cx="815752" cy="81575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F5B73442-BFF9-D790-EA22-00F40421DA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Juvenile Pollock coloration</a:t>
            </a:r>
            <a:endParaRPr b="1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7C2C54-E096-5E60-6CAA-08FE3B46B0A5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70E7C5-EC66-F941-BB33-D5748AEA0528}"/>
              </a:ext>
            </a:extLst>
          </p:cNvPr>
          <p:cNvSpPr txBox="1"/>
          <p:nvPr/>
        </p:nvSpPr>
        <p:spPr>
          <a:xfrm>
            <a:off x="1883148" y="5216769"/>
            <a:ext cx="8425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Is different coloration an indicator of different habitat or diet preferences?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86130847-D64D-615F-DD73-F470C669F2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9946" y="2349405"/>
            <a:ext cx="11657894" cy="225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fish with fins on a black background&#10;&#10;AI-generated content may be incorrect.">
            <a:extLst>
              <a:ext uri="{FF2B5EF4-FFF2-40B4-BE49-F238E27FC236}">
                <a16:creationId xmlns:a16="http://schemas.microsoft.com/office/drawing/2014/main" id="{BA5BE807-B684-33DB-DC59-024BF352554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1840" y="28390"/>
            <a:ext cx="1280160" cy="53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48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AF1DE1C2-17A6-D36C-1BA0-662C6F0F7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taff - Gulf of Maine Research Institute">
            <a:extLst>
              <a:ext uri="{FF2B5EF4-FFF2-40B4-BE49-F238E27FC236}">
                <a16:creationId xmlns:a16="http://schemas.microsoft.com/office/drawing/2014/main" id="{8E05B74D-E916-DEBD-4D71-1E0BA06D1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05477" y="5923242"/>
            <a:ext cx="815752" cy="81575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82A94099-25FA-9A40-91AE-31B24345E5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Juvenile Pollock coloration</a:t>
            </a:r>
            <a:endParaRPr b="1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7399E4-A2FD-BAAE-1106-58F9CD4FDEF0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CC912-0358-F1E3-0FCF-BEF68A97B663}"/>
              </a:ext>
            </a:extLst>
          </p:cNvPr>
          <p:cNvSpPr txBox="1"/>
          <p:nvPr/>
        </p:nvSpPr>
        <p:spPr>
          <a:xfrm>
            <a:off x="1883148" y="5216769"/>
            <a:ext cx="8425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Is different coloration an indicator of different habitat or diet preferences?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DFE710B3-29CA-34CC-39E9-4274EA5BB1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9946" y="2349405"/>
            <a:ext cx="11657894" cy="225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fish with fins on a black background&#10;&#10;AI-generated content may be incorrect.">
            <a:extLst>
              <a:ext uri="{FF2B5EF4-FFF2-40B4-BE49-F238E27FC236}">
                <a16:creationId xmlns:a16="http://schemas.microsoft.com/office/drawing/2014/main" id="{C9224A4D-AEE5-CB55-F843-D3A059C7AE8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1840" y="28390"/>
            <a:ext cx="1280160" cy="532566"/>
          </a:xfrm>
          <a:prstGeom prst="rect">
            <a:avLst/>
          </a:prstGeom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D0B22D85-DB9F-6134-B304-CC4C115ECB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240" y="2349406"/>
            <a:ext cx="5487956" cy="225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B23625E-EA44-2D32-CFA9-49CC3E671F34}"/>
              </a:ext>
            </a:extLst>
          </p:cNvPr>
          <p:cNvGrpSpPr/>
          <p:nvPr/>
        </p:nvGrpSpPr>
        <p:grpSpPr>
          <a:xfrm>
            <a:off x="269946" y="2019396"/>
            <a:ext cx="11652108" cy="2890229"/>
            <a:chOff x="269946" y="2019396"/>
            <a:chExt cx="11652108" cy="289022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846B682-8369-2BC2-D901-F50B94F0E1AD}"/>
                </a:ext>
              </a:extLst>
            </p:cNvPr>
            <p:cNvSpPr/>
            <p:nvPr/>
          </p:nvSpPr>
          <p:spPr>
            <a:xfrm>
              <a:off x="269946" y="2019396"/>
              <a:ext cx="11652108" cy="28820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67D6ACA-9AE8-9348-62EB-2556A67B5B59}"/>
                </a:ext>
              </a:extLst>
            </p:cNvPr>
            <p:cNvGrpSpPr/>
            <p:nvPr/>
          </p:nvGrpSpPr>
          <p:grpSpPr>
            <a:xfrm>
              <a:off x="2429796" y="2584827"/>
              <a:ext cx="6908800" cy="2324798"/>
              <a:chOff x="5013255" y="3738350"/>
              <a:chExt cx="6908800" cy="232479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9BDEF70-7E7B-5B1B-1A78-009FF704CD57}"/>
                  </a:ext>
                </a:extLst>
              </p:cNvPr>
              <p:cNvGrpSpPr/>
              <p:nvPr/>
            </p:nvGrpSpPr>
            <p:grpSpPr>
              <a:xfrm>
                <a:off x="5013255" y="3738350"/>
                <a:ext cx="6908800" cy="2324798"/>
                <a:chOff x="2595418" y="3228268"/>
                <a:chExt cx="6908800" cy="2324798"/>
              </a:xfrm>
            </p:grpSpPr>
            <p:pic>
              <p:nvPicPr>
                <p:cNvPr id="11268" name="Picture 4">
                  <a:extLst>
                    <a:ext uri="{FF2B5EF4-FFF2-40B4-BE49-F238E27FC236}">
                      <a16:creationId xmlns:a16="http://schemas.microsoft.com/office/drawing/2014/main" id="{9F66E22C-55EA-2E8E-7712-75C90C1942F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95418" y="3228268"/>
                  <a:ext cx="6908800" cy="175123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7135D16-C0E3-4D30-BFB5-0DC00F08C6B2}"/>
                    </a:ext>
                  </a:extLst>
                </p:cNvPr>
                <p:cNvSpPr txBox="1"/>
                <p:nvPr/>
              </p:nvSpPr>
              <p:spPr>
                <a:xfrm rot="19500000">
                  <a:off x="3446925" y="5087472"/>
                  <a:ext cx="64312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/>
                    <a:t>Algae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209197D-E3AC-81DC-88DE-E14E27BFBC84}"/>
                    </a:ext>
                  </a:extLst>
                </p:cNvPr>
                <p:cNvSpPr txBox="1"/>
                <p:nvPr/>
              </p:nvSpPr>
              <p:spPr>
                <a:xfrm rot="19500000">
                  <a:off x="4310612" y="5124447"/>
                  <a:ext cx="99097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/>
                    <a:t>Amphipod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F9AE502-BCF5-791B-629E-D753F863FBA0}"/>
                    </a:ext>
                  </a:extLst>
                </p:cNvPr>
                <p:cNvSpPr txBox="1"/>
                <p:nvPr/>
              </p:nvSpPr>
              <p:spPr>
                <a:xfrm rot="19500000">
                  <a:off x="5546549" y="5088973"/>
                  <a:ext cx="57259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/>
                    <a:t>Crab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D4DCC9B-5F0A-7F6E-9445-BF3023632A62}"/>
                    </a:ext>
                  </a:extLst>
                </p:cNvPr>
                <p:cNvSpPr txBox="1"/>
                <p:nvPr/>
              </p:nvSpPr>
              <p:spPr>
                <a:xfrm rot="19500000">
                  <a:off x="6301056" y="5029846"/>
                  <a:ext cx="126028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/>
                    <a:t>Inorganic</a:t>
                  </a:r>
                  <a:br>
                    <a:rPr lang="en-US" dirty="0"/>
                  </a:br>
                  <a:r>
                    <a:rPr lang="en-US" dirty="0"/>
                    <a:t>(Rock / Shell)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FEE54C4-DC91-5A00-4CDE-10DF47F29C35}"/>
                    </a:ext>
                  </a:extLst>
                </p:cNvPr>
                <p:cNvSpPr txBox="1"/>
                <p:nvPr/>
              </p:nvSpPr>
              <p:spPr>
                <a:xfrm rot="19500000">
                  <a:off x="7396093" y="4981251"/>
                  <a:ext cx="113845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/>
                    <a:t>Other</a:t>
                  </a:r>
                  <a:br>
                    <a:rPr lang="en-US" dirty="0"/>
                  </a:br>
                  <a:r>
                    <a:rPr lang="en-US" dirty="0"/>
                    <a:t>Invertebrate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4914D3B-723D-C433-69E8-BA64E749DF28}"/>
                    </a:ext>
                  </a:extLst>
                </p:cNvPr>
                <p:cNvSpPr txBox="1"/>
                <p:nvPr/>
              </p:nvSpPr>
              <p:spPr>
                <a:xfrm rot="19500000">
                  <a:off x="8700117" y="5009441"/>
                  <a:ext cx="52290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/>
                    <a:t>Fish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968F193B-8CB0-73F9-5F21-104B0CF396F8}"/>
                    </a:ext>
                  </a:extLst>
                </p:cNvPr>
                <p:cNvSpPr/>
                <p:nvPr/>
              </p:nvSpPr>
              <p:spPr>
                <a:xfrm>
                  <a:off x="2595418" y="3228268"/>
                  <a:ext cx="426078" cy="30012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13F9BB8-AABD-AD2B-84E6-E017305A71D8}"/>
                    </a:ext>
                  </a:extLst>
                </p:cNvPr>
                <p:cNvSpPr txBox="1"/>
                <p:nvPr/>
              </p:nvSpPr>
              <p:spPr>
                <a:xfrm>
                  <a:off x="4797712" y="3378329"/>
                  <a:ext cx="250421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Ecotype Diet Occurrence (%)</a:t>
                  </a:r>
                </a:p>
              </p:txBody>
            </p:sp>
            <p:pic>
              <p:nvPicPr>
                <p:cNvPr id="15" name="Picture 4">
                  <a:extLst>
                    <a:ext uri="{FF2B5EF4-FFF2-40B4-BE49-F238E27FC236}">
                      <a16:creationId xmlns:a16="http://schemas.microsoft.com/office/drawing/2014/main" id="{E9B1812A-B8DF-8CF6-1808-1B55AFE2976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8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591923" y="3429000"/>
                  <a:ext cx="645575" cy="32511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0765C33-6344-EFF7-F9BA-DE55761E2E33}"/>
                  </a:ext>
                </a:extLst>
              </p:cNvPr>
              <p:cNvSpPr/>
              <p:nvPr/>
            </p:nvSpPr>
            <p:spPr>
              <a:xfrm>
                <a:off x="5807228" y="5145405"/>
                <a:ext cx="243052" cy="274320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B39DBCC-3801-8C1C-6B01-3DD268C64491}"/>
                  </a:ext>
                </a:extLst>
              </p:cNvPr>
              <p:cNvSpPr/>
              <p:nvPr/>
            </p:nvSpPr>
            <p:spPr>
              <a:xfrm>
                <a:off x="6858000" y="4636770"/>
                <a:ext cx="228600" cy="782955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873C779-0A83-EF46-B2E9-F68D631E275A}"/>
                  </a:ext>
                </a:extLst>
              </p:cNvPr>
              <p:cNvSpPr/>
              <p:nvPr/>
            </p:nvSpPr>
            <p:spPr>
              <a:xfrm>
                <a:off x="7894320" y="5362575"/>
                <a:ext cx="243052" cy="57150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3217100-7F8D-05E6-EC26-783951BC6AC0}"/>
                  </a:ext>
                </a:extLst>
              </p:cNvPr>
              <p:cNvSpPr/>
              <p:nvPr/>
            </p:nvSpPr>
            <p:spPr>
              <a:xfrm>
                <a:off x="9986422" y="5031105"/>
                <a:ext cx="228601" cy="386715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1C0ED35-5F76-5623-3023-1524AA5D6B3A}"/>
                  </a:ext>
                </a:extLst>
              </p:cNvPr>
              <p:cNvSpPr/>
              <p:nvPr/>
            </p:nvSpPr>
            <p:spPr>
              <a:xfrm>
                <a:off x="11025763" y="5145405"/>
                <a:ext cx="229899" cy="274320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9845014-C0A4-31E8-E605-C4664D31B613}"/>
                  </a:ext>
                </a:extLst>
              </p:cNvPr>
              <p:cNvSpPr/>
              <p:nvPr/>
            </p:nvSpPr>
            <p:spPr>
              <a:xfrm>
                <a:off x="11039475" y="4112871"/>
                <a:ext cx="81915" cy="83317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7366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BCED2459-53F0-8F61-4F0F-EF0FEDA5F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F94863-D675-81F9-CDAE-C2FAFCDEB56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0923" y="1108364"/>
            <a:ext cx="7227620" cy="542448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7623BB5-CEEA-AF2F-404F-8774737714CF}"/>
              </a:ext>
            </a:extLst>
          </p:cNvPr>
          <p:cNvSpPr/>
          <p:nvPr/>
        </p:nvSpPr>
        <p:spPr>
          <a:xfrm>
            <a:off x="7787677" y="5511165"/>
            <a:ext cx="118029" cy="10296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2" name="TextBox 55">
            <a:extLst>
              <a:ext uri="{FF2B5EF4-FFF2-40B4-BE49-F238E27FC236}">
                <a16:creationId xmlns:a16="http://schemas.microsoft.com/office/drawing/2014/main" id="{B881577E-CD13-B644-92E0-3A19A21AB8D9}"/>
              </a:ext>
            </a:extLst>
          </p:cNvPr>
          <p:cNvSpPr txBox="1"/>
          <p:nvPr/>
        </p:nvSpPr>
        <p:spPr>
          <a:xfrm>
            <a:off x="7928987" y="5928304"/>
            <a:ext cx="162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River sampling</a:t>
            </a:r>
          </a:p>
        </p:txBody>
      </p:sp>
      <p:sp>
        <p:nvSpPr>
          <p:cNvPr id="64" name="TextBox 58">
            <a:extLst>
              <a:ext uri="{FF2B5EF4-FFF2-40B4-BE49-F238E27FC236}">
                <a16:creationId xmlns:a16="http://schemas.microsoft.com/office/drawing/2014/main" id="{22416219-36F0-958B-3925-5F136DFBE29B}"/>
              </a:ext>
            </a:extLst>
          </p:cNvPr>
          <p:cNvSpPr txBox="1"/>
          <p:nvPr/>
        </p:nvSpPr>
        <p:spPr>
          <a:xfrm>
            <a:off x="7928987" y="5388353"/>
            <a:ext cx="162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Jigging</a:t>
            </a:r>
          </a:p>
        </p:txBody>
      </p:sp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9A5C60B2-A379-CD0D-1F3F-6E6ECBD716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Seining / Environmental DNA</a:t>
            </a:r>
            <a:endParaRPr b="1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916BD5-670B-6D8B-5DE6-3952F0E72B53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4EB1733-90BF-F265-1D16-319A0DBC8D54}"/>
              </a:ext>
            </a:extLst>
          </p:cNvPr>
          <p:cNvGrpSpPr/>
          <p:nvPr/>
        </p:nvGrpSpPr>
        <p:grpSpPr>
          <a:xfrm>
            <a:off x="3032457" y="1648263"/>
            <a:ext cx="5622905" cy="3819732"/>
            <a:chOff x="5245969" y="1620554"/>
            <a:chExt cx="5622905" cy="3819732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A6EBF39-7A05-51D3-5F50-909CB9E50927}"/>
                </a:ext>
              </a:extLst>
            </p:cNvPr>
            <p:cNvGrpSpPr/>
            <p:nvPr/>
          </p:nvGrpSpPr>
          <p:grpSpPr>
            <a:xfrm>
              <a:off x="5245969" y="3446636"/>
              <a:ext cx="1024147" cy="1993650"/>
              <a:chOff x="5245969" y="3446636"/>
              <a:chExt cx="1024147" cy="1993650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A7383886-CBD3-6A3D-B44B-72F37AED2089}"/>
                  </a:ext>
                </a:extLst>
              </p:cNvPr>
              <p:cNvSpPr/>
              <p:nvPr/>
            </p:nvSpPr>
            <p:spPr>
              <a:xfrm>
                <a:off x="6112554" y="4614371"/>
                <a:ext cx="106735" cy="991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1017854-F994-5597-2828-D7E57CD6738F}"/>
                  </a:ext>
                </a:extLst>
              </p:cNvPr>
              <p:cNvSpPr/>
              <p:nvPr/>
            </p:nvSpPr>
            <p:spPr>
              <a:xfrm>
                <a:off x="5257404" y="3454266"/>
                <a:ext cx="106735" cy="991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1B4222C8-B7DB-C3B0-45D1-CEAAB2FC4B6A}"/>
                  </a:ext>
                </a:extLst>
              </p:cNvPr>
              <p:cNvSpPr/>
              <p:nvPr/>
            </p:nvSpPr>
            <p:spPr>
              <a:xfrm>
                <a:off x="5522969" y="3452995"/>
                <a:ext cx="106735" cy="991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C1BB0F0-9C71-0EE8-A9A4-810EC2AD6DD7}"/>
                  </a:ext>
                </a:extLst>
              </p:cNvPr>
              <p:cNvSpPr/>
              <p:nvPr/>
            </p:nvSpPr>
            <p:spPr>
              <a:xfrm>
                <a:off x="5521699" y="3657568"/>
                <a:ext cx="106735" cy="991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C2D520D-D00F-AC98-9078-0862A44AACE2}"/>
                  </a:ext>
                </a:extLst>
              </p:cNvPr>
              <p:cNvSpPr/>
              <p:nvPr/>
            </p:nvSpPr>
            <p:spPr>
              <a:xfrm>
                <a:off x="5245969" y="4022241"/>
                <a:ext cx="106735" cy="991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34A741EE-26F5-9C9A-09D5-2150EB6AB4C9}"/>
                  </a:ext>
                </a:extLst>
              </p:cNvPr>
              <p:cNvSpPr/>
              <p:nvPr/>
            </p:nvSpPr>
            <p:spPr>
              <a:xfrm>
                <a:off x="5671638" y="3883741"/>
                <a:ext cx="106735" cy="991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46064364-1399-B53B-6396-85B6ABD850B0}"/>
                  </a:ext>
                </a:extLst>
              </p:cNvPr>
              <p:cNvSpPr/>
              <p:nvPr/>
            </p:nvSpPr>
            <p:spPr>
              <a:xfrm>
                <a:off x="5792350" y="3768111"/>
                <a:ext cx="106735" cy="991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BAED792-CC99-6C07-6441-8A1168FA4C66}"/>
                  </a:ext>
                </a:extLst>
              </p:cNvPr>
              <p:cNvSpPr/>
              <p:nvPr/>
            </p:nvSpPr>
            <p:spPr>
              <a:xfrm>
                <a:off x="5890191" y="3446636"/>
                <a:ext cx="106735" cy="991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0A07DC09-5739-03C6-1F6A-58D7B11DD409}"/>
                  </a:ext>
                </a:extLst>
              </p:cNvPr>
              <p:cNvSpPr/>
              <p:nvPr/>
            </p:nvSpPr>
            <p:spPr>
              <a:xfrm>
                <a:off x="6163381" y="4001908"/>
                <a:ext cx="106735" cy="991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22319E2E-DC7D-8429-34F2-AE1F05B7D466}"/>
                  </a:ext>
                </a:extLst>
              </p:cNvPr>
              <p:cNvSpPr/>
              <p:nvPr/>
            </p:nvSpPr>
            <p:spPr>
              <a:xfrm>
                <a:off x="5758042" y="4450449"/>
                <a:ext cx="106735" cy="991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D2147FFF-6B08-3F1A-2E33-5D327E8DC405}"/>
                  </a:ext>
                </a:extLst>
              </p:cNvPr>
              <p:cNvSpPr/>
              <p:nvPr/>
            </p:nvSpPr>
            <p:spPr>
              <a:xfrm>
                <a:off x="6031227" y="5341175"/>
                <a:ext cx="106735" cy="991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0B7FB121-7B00-B26E-AAC4-BF887C0CE9EF}"/>
                  </a:ext>
                </a:extLst>
              </p:cNvPr>
              <p:cNvSpPr/>
              <p:nvPr/>
            </p:nvSpPr>
            <p:spPr>
              <a:xfrm>
                <a:off x="6108743" y="3695682"/>
                <a:ext cx="106735" cy="991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81D2CD1-0995-010E-1D8F-C7BB04D9AD13}"/>
                </a:ext>
              </a:extLst>
            </p:cNvPr>
            <p:cNvSpPr/>
            <p:nvPr/>
          </p:nvSpPr>
          <p:spPr>
            <a:xfrm>
              <a:off x="10762139" y="1973224"/>
              <a:ext cx="106735" cy="991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23370D8-1763-63B3-3EC0-8D92931538F5}"/>
                </a:ext>
              </a:extLst>
            </p:cNvPr>
            <p:cNvSpPr/>
            <p:nvPr/>
          </p:nvSpPr>
          <p:spPr>
            <a:xfrm>
              <a:off x="9539265" y="3020802"/>
              <a:ext cx="106735" cy="991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0FFD393-60E2-D171-6B16-CE5B825B42CF}"/>
                </a:ext>
              </a:extLst>
            </p:cNvPr>
            <p:cNvSpPr/>
            <p:nvPr/>
          </p:nvSpPr>
          <p:spPr>
            <a:xfrm>
              <a:off x="9764014" y="2780813"/>
              <a:ext cx="106735" cy="991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979FB85-4791-DA07-E76D-B201524603CC}"/>
                </a:ext>
              </a:extLst>
            </p:cNvPr>
            <p:cNvSpPr/>
            <p:nvPr/>
          </p:nvSpPr>
          <p:spPr>
            <a:xfrm>
              <a:off x="10246716" y="2494849"/>
              <a:ext cx="106735" cy="991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8BB84BA-1A1A-69D8-7E5F-01A4DBEB5801}"/>
                </a:ext>
              </a:extLst>
            </p:cNvPr>
            <p:cNvSpPr/>
            <p:nvPr/>
          </p:nvSpPr>
          <p:spPr>
            <a:xfrm>
              <a:off x="10675208" y="1620554"/>
              <a:ext cx="106735" cy="991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7BD3B3D-CBBF-416A-0300-35152AC0AD4C}"/>
                </a:ext>
              </a:extLst>
            </p:cNvPr>
            <p:cNvSpPr/>
            <p:nvPr/>
          </p:nvSpPr>
          <p:spPr>
            <a:xfrm>
              <a:off x="9362875" y="2780814"/>
              <a:ext cx="106735" cy="991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0765FBB1-DBAA-6026-2624-07992F3DD086}"/>
              </a:ext>
            </a:extLst>
          </p:cNvPr>
          <p:cNvSpPr/>
          <p:nvPr/>
        </p:nvSpPr>
        <p:spPr>
          <a:xfrm>
            <a:off x="2730040" y="3335850"/>
            <a:ext cx="106735" cy="9911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E7492CD-B3D4-AB47-7A08-9CA112FEABFD}"/>
              </a:ext>
            </a:extLst>
          </p:cNvPr>
          <p:cNvSpPr/>
          <p:nvPr/>
        </p:nvSpPr>
        <p:spPr>
          <a:xfrm>
            <a:off x="7787677" y="5796456"/>
            <a:ext cx="118029" cy="10296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C453359-7CCE-83AE-6F3C-22B3814A907A}"/>
              </a:ext>
            </a:extLst>
          </p:cNvPr>
          <p:cNvSpPr/>
          <p:nvPr/>
        </p:nvSpPr>
        <p:spPr>
          <a:xfrm>
            <a:off x="7608844" y="5124843"/>
            <a:ext cx="329599" cy="303898"/>
          </a:xfrm>
          <a:custGeom>
            <a:avLst/>
            <a:gdLst>
              <a:gd name="csX0" fmla="*/ 0 w 329599"/>
              <a:gd name="csY0" fmla="*/ 99232 h 303898"/>
              <a:gd name="csX1" fmla="*/ 304878 w 329599"/>
              <a:gd name="csY1" fmla="*/ 0 h 303898"/>
              <a:gd name="csX2" fmla="*/ 329599 w 329599"/>
              <a:gd name="csY2" fmla="*/ 93030 h 303898"/>
              <a:gd name="csX3" fmla="*/ 98879 w 329599"/>
              <a:gd name="csY3" fmla="*/ 210867 h 303898"/>
              <a:gd name="csX4" fmla="*/ 123599 w 329599"/>
              <a:gd name="csY4" fmla="*/ 303898 h 303898"/>
              <a:gd name="csX5" fmla="*/ 329599 w 329599"/>
              <a:gd name="csY5" fmla="*/ 198464 h 30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29599" h="303898" extrusionOk="0">
                <a:moveTo>
                  <a:pt x="0" y="99232"/>
                </a:moveTo>
                <a:cubicBezTo>
                  <a:pt x="58976" y="43051"/>
                  <a:pt x="212620" y="61958"/>
                  <a:pt x="304878" y="0"/>
                </a:cubicBezTo>
                <a:cubicBezTo>
                  <a:pt x="322711" y="37944"/>
                  <a:pt x="317188" y="51589"/>
                  <a:pt x="329599" y="93030"/>
                </a:cubicBezTo>
                <a:cubicBezTo>
                  <a:pt x="223448" y="153727"/>
                  <a:pt x="150032" y="184264"/>
                  <a:pt x="98879" y="210867"/>
                </a:cubicBezTo>
                <a:cubicBezTo>
                  <a:pt x="116599" y="250803"/>
                  <a:pt x="106759" y="272065"/>
                  <a:pt x="123599" y="303898"/>
                </a:cubicBezTo>
                <a:cubicBezTo>
                  <a:pt x="179273" y="249826"/>
                  <a:pt x="278058" y="242330"/>
                  <a:pt x="329599" y="198464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4188319413">
                  <a:custGeom>
                    <a:avLst/>
                    <a:gdLst>
                      <a:gd name="connsiteX0" fmla="*/ 0 w 385010"/>
                      <a:gd name="connsiteY0" fmla="*/ 154005 h 471638"/>
                      <a:gd name="connsiteX1" fmla="*/ 356134 w 385010"/>
                      <a:gd name="connsiteY1" fmla="*/ 0 h 471638"/>
                      <a:gd name="connsiteX2" fmla="*/ 385010 w 385010"/>
                      <a:gd name="connsiteY2" fmla="*/ 144379 h 471638"/>
                      <a:gd name="connsiteX3" fmla="*/ 115503 w 385010"/>
                      <a:gd name="connsiteY3" fmla="*/ 327259 h 471638"/>
                      <a:gd name="connsiteX4" fmla="*/ 144379 w 385010"/>
                      <a:gd name="connsiteY4" fmla="*/ 471638 h 471638"/>
                      <a:gd name="connsiteX5" fmla="*/ 385010 w 385010"/>
                      <a:gd name="connsiteY5" fmla="*/ 308009 h 4716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85010" h="471638">
                        <a:moveTo>
                          <a:pt x="0" y="154005"/>
                        </a:moveTo>
                        <a:lnTo>
                          <a:pt x="356134" y="0"/>
                        </a:lnTo>
                        <a:lnTo>
                          <a:pt x="385010" y="144379"/>
                        </a:lnTo>
                        <a:lnTo>
                          <a:pt x="115503" y="327259"/>
                        </a:lnTo>
                        <a:lnTo>
                          <a:pt x="144379" y="471638"/>
                        </a:lnTo>
                        <a:lnTo>
                          <a:pt x="385010" y="308009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5" name="TextBox 59">
            <a:extLst>
              <a:ext uri="{FF2B5EF4-FFF2-40B4-BE49-F238E27FC236}">
                <a16:creationId xmlns:a16="http://schemas.microsoft.com/office/drawing/2014/main" id="{41F072D3-5A4D-153A-91FC-C6AF4E11308F}"/>
              </a:ext>
            </a:extLst>
          </p:cNvPr>
          <p:cNvSpPr txBox="1"/>
          <p:nvPr/>
        </p:nvSpPr>
        <p:spPr>
          <a:xfrm>
            <a:off x="7938443" y="5090513"/>
            <a:ext cx="162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Herring acoustics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14AC9FF-815D-557C-8E04-EC5135CC47D5}"/>
              </a:ext>
            </a:extLst>
          </p:cNvPr>
          <p:cNvSpPr/>
          <p:nvPr/>
        </p:nvSpPr>
        <p:spPr>
          <a:xfrm>
            <a:off x="7787677" y="4936318"/>
            <a:ext cx="118029" cy="10296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3" name="TextBox 55">
            <a:extLst>
              <a:ext uri="{FF2B5EF4-FFF2-40B4-BE49-F238E27FC236}">
                <a16:creationId xmlns:a16="http://schemas.microsoft.com/office/drawing/2014/main" id="{BA0D08E9-C375-E1FE-4000-8B485443F1C6}"/>
              </a:ext>
            </a:extLst>
          </p:cNvPr>
          <p:cNvSpPr txBox="1"/>
          <p:nvPr/>
        </p:nvSpPr>
        <p:spPr>
          <a:xfrm>
            <a:off x="7930391" y="4830711"/>
            <a:ext cx="162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Mussel acoustics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0E0CF51-CF3A-C924-19BF-C09031AF5E12}"/>
              </a:ext>
            </a:extLst>
          </p:cNvPr>
          <p:cNvGrpSpPr/>
          <p:nvPr/>
        </p:nvGrpSpPr>
        <p:grpSpPr>
          <a:xfrm>
            <a:off x="3236889" y="2414482"/>
            <a:ext cx="2397917" cy="1744300"/>
            <a:chOff x="5450401" y="2386773"/>
            <a:chExt cx="2397917" cy="174430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882655D-0336-FD5E-5678-8C1CED1D6E56}"/>
                </a:ext>
              </a:extLst>
            </p:cNvPr>
            <p:cNvSpPr/>
            <p:nvPr/>
          </p:nvSpPr>
          <p:spPr>
            <a:xfrm>
              <a:off x="5671638" y="3733631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CD011C6-2428-6941-7FAC-9316B2E6F049}"/>
                </a:ext>
              </a:extLst>
            </p:cNvPr>
            <p:cNvSpPr/>
            <p:nvPr/>
          </p:nvSpPr>
          <p:spPr>
            <a:xfrm>
              <a:off x="6013296" y="3465986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86FAB7D-910B-7740-0D1A-528BAD5E252F}"/>
                </a:ext>
              </a:extLst>
            </p:cNvPr>
            <p:cNvSpPr/>
            <p:nvPr/>
          </p:nvSpPr>
          <p:spPr>
            <a:xfrm>
              <a:off x="5450401" y="4028113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082424A3-7810-B990-BB60-868D604C3023}"/>
                </a:ext>
              </a:extLst>
            </p:cNvPr>
            <p:cNvSpPr/>
            <p:nvPr/>
          </p:nvSpPr>
          <p:spPr>
            <a:xfrm>
              <a:off x="7730289" y="2386773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E4AAB41-B173-C4CC-C039-50AECE3F8655}"/>
                </a:ext>
              </a:extLst>
            </p:cNvPr>
            <p:cNvSpPr/>
            <p:nvPr/>
          </p:nvSpPr>
          <p:spPr>
            <a:xfrm>
              <a:off x="6370789" y="3525052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E67C0E73-BED6-7D68-2340-B995F8ABBB43}"/>
                </a:ext>
              </a:extLst>
            </p:cNvPr>
            <p:cNvSpPr/>
            <p:nvPr/>
          </p:nvSpPr>
          <p:spPr>
            <a:xfrm>
              <a:off x="6044082" y="3591961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19BF711E-BB2F-6F15-DA38-10C119997DDD}"/>
                </a:ext>
              </a:extLst>
            </p:cNvPr>
            <p:cNvSpPr/>
            <p:nvPr/>
          </p:nvSpPr>
          <p:spPr>
            <a:xfrm>
              <a:off x="7069360" y="2409972"/>
              <a:ext cx="118029" cy="10296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874E85E-9B2C-C569-9744-50370A34F969}"/>
              </a:ext>
            </a:extLst>
          </p:cNvPr>
          <p:cNvSpPr/>
          <p:nvPr/>
        </p:nvSpPr>
        <p:spPr>
          <a:xfrm>
            <a:off x="3754194" y="4588716"/>
            <a:ext cx="2203308" cy="1860232"/>
          </a:xfrm>
          <a:custGeom>
            <a:avLst/>
            <a:gdLst>
              <a:gd name="csX0" fmla="*/ 0 w 2203308"/>
              <a:gd name="csY0" fmla="*/ 0 h 1860232"/>
              <a:gd name="csX1" fmla="*/ 129606 w 2203308"/>
              <a:gd name="csY1" fmla="*/ 282084 h 1860232"/>
              <a:gd name="csX2" fmla="*/ 205845 w 2203308"/>
              <a:gd name="csY2" fmla="*/ 358323 h 1860232"/>
              <a:gd name="csX3" fmla="*/ 503178 w 2203308"/>
              <a:gd name="csY3" fmla="*/ 83863 h 1860232"/>
              <a:gd name="csX4" fmla="*/ 709023 w 2203308"/>
              <a:gd name="csY4" fmla="*/ 144854 h 1860232"/>
              <a:gd name="csX5" fmla="*/ 236340 w 2203308"/>
              <a:gd name="csY5" fmla="*/ 503178 h 1860232"/>
              <a:gd name="csX6" fmla="*/ 266836 w 2203308"/>
              <a:gd name="csY6" fmla="*/ 709023 h 1860232"/>
              <a:gd name="csX7" fmla="*/ 589556 w 2203308"/>
              <a:gd name="csY7" fmla="*/ 429073 h 1860232"/>
              <a:gd name="csX8" fmla="*/ 899620 w 2203308"/>
              <a:gd name="csY8" fmla="*/ 160102 h 1860232"/>
              <a:gd name="csX9" fmla="*/ 1067346 w 2203308"/>
              <a:gd name="csY9" fmla="*/ 228717 h 1860232"/>
              <a:gd name="csX10" fmla="*/ 730674 w 2203308"/>
              <a:gd name="csY10" fmla="*/ 525134 h 1860232"/>
              <a:gd name="csX11" fmla="*/ 365947 w 2203308"/>
              <a:gd name="csY11" fmla="*/ 846252 h 1860232"/>
              <a:gd name="csX12" fmla="*/ 442186 w 2203308"/>
              <a:gd name="csY12" fmla="*/ 1067346 h 1860232"/>
              <a:gd name="csX13" fmla="*/ 852047 w 2203308"/>
              <a:gd name="csY13" fmla="*/ 686761 h 1860232"/>
              <a:gd name="csX14" fmla="*/ 1296063 w 2203308"/>
              <a:gd name="csY14" fmla="*/ 274460 h 1860232"/>
              <a:gd name="csX15" fmla="*/ 1585772 w 2203308"/>
              <a:gd name="csY15" fmla="*/ 335452 h 1860232"/>
              <a:gd name="csX16" fmla="*/ 1257385 w 2203308"/>
              <a:gd name="csY16" fmla="*/ 624525 h 1860232"/>
              <a:gd name="csX17" fmla="*/ 928998 w 2203308"/>
              <a:gd name="csY17" fmla="*/ 913597 h 1860232"/>
              <a:gd name="csX18" fmla="*/ 503178 w 2203308"/>
              <a:gd name="csY18" fmla="*/ 1288439 h 1860232"/>
              <a:gd name="csX19" fmla="*/ 472682 w 2203308"/>
              <a:gd name="csY19" fmla="*/ 1601020 h 1860232"/>
              <a:gd name="csX20" fmla="*/ 886635 w 2203308"/>
              <a:gd name="csY20" fmla="*/ 1224069 h 1860232"/>
              <a:gd name="csX21" fmla="*/ 1314234 w 2203308"/>
              <a:gd name="csY21" fmla="*/ 834690 h 1860232"/>
              <a:gd name="csX22" fmla="*/ 1837361 w 2203308"/>
              <a:gd name="csY22" fmla="*/ 358323 h 1860232"/>
              <a:gd name="csX23" fmla="*/ 2203308 w 2203308"/>
              <a:gd name="csY23" fmla="*/ 373571 h 1860232"/>
              <a:gd name="csX24" fmla="*/ 1812278 w 2203308"/>
              <a:gd name="csY24" fmla="*/ 715503 h 1860232"/>
              <a:gd name="csX25" fmla="*/ 1404247 w 2203308"/>
              <a:gd name="csY25" fmla="*/ 1072302 h 1860232"/>
              <a:gd name="csX26" fmla="*/ 962213 w 2203308"/>
              <a:gd name="csY26" fmla="*/ 1458834 h 1860232"/>
              <a:gd name="csX27" fmla="*/ 503178 w 2203308"/>
              <a:gd name="csY27" fmla="*/ 1860232 h 1860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2203308" h="1860232" extrusionOk="0">
                <a:moveTo>
                  <a:pt x="0" y="0"/>
                </a:moveTo>
                <a:cubicBezTo>
                  <a:pt x="32596" y="94905"/>
                  <a:pt x="69605" y="166008"/>
                  <a:pt x="129606" y="282084"/>
                </a:cubicBezTo>
                <a:cubicBezTo>
                  <a:pt x="160827" y="316704"/>
                  <a:pt x="185973" y="343543"/>
                  <a:pt x="205845" y="358323"/>
                </a:cubicBezTo>
                <a:cubicBezTo>
                  <a:pt x="275411" y="291742"/>
                  <a:pt x="420794" y="138709"/>
                  <a:pt x="503178" y="83863"/>
                </a:cubicBezTo>
                <a:cubicBezTo>
                  <a:pt x="586159" y="110920"/>
                  <a:pt x="636158" y="120466"/>
                  <a:pt x="709023" y="144854"/>
                </a:cubicBezTo>
                <a:cubicBezTo>
                  <a:pt x="537409" y="238974"/>
                  <a:pt x="352736" y="425653"/>
                  <a:pt x="236340" y="503178"/>
                </a:cubicBezTo>
                <a:cubicBezTo>
                  <a:pt x="249569" y="576481"/>
                  <a:pt x="261680" y="612057"/>
                  <a:pt x="266836" y="709023"/>
                </a:cubicBezTo>
                <a:cubicBezTo>
                  <a:pt x="341676" y="632499"/>
                  <a:pt x="486633" y="514144"/>
                  <a:pt x="589556" y="429073"/>
                </a:cubicBezTo>
                <a:cubicBezTo>
                  <a:pt x="692479" y="344002"/>
                  <a:pt x="818666" y="225502"/>
                  <a:pt x="899620" y="160102"/>
                </a:cubicBezTo>
                <a:cubicBezTo>
                  <a:pt x="952712" y="187679"/>
                  <a:pt x="999164" y="207055"/>
                  <a:pt x="1067346" y="228717"/>
                </a:cubicBezTo>
                <a:cubicBezTo>
                  <a:pt x="939959" y="351548"/>
                  <a:pt x="826019" y="466115"/>
                  <a:pt x="730674" y="525134"/>
                </a:cubicBezTo>
                <a:cubicBezTo>
                  <a:pt x="635329" y="584153"/>
                  <a:pt x="438847" y="775220"/>
                  <a:pt x="365947" y="846252"/>
                </a:cubicBezTo>
                <a:cubicBezTo>
                  <a:pt x="389793" y="922675"/>
                  <a:pt x="418823" y="1025834"/>
                  <a:pt x="442186" y="1067346"/>
                </a:cubicBezTo>
                <a:cubicBezTo>
                  <a:pt x="602731" y="931300"/>
                  <a:pt x="633360" y="852805"/>
                  <a:pt x="852047" y="686761"/>
                </a:cubicBezTo>
                <a:cubicBezTo>
                  <a:pt x="1070734" y="520717"/>
                  <a:pt x="1125436" y="456248"/>
                  <a:pt x="1296063" y="274460"/>
                </a:cubicBezTo>
                <a:cubicBezTo>
                  <a:pt x="1417955" y="306138"/>
                  <a:pt x="1443956" y="301799"/>
                  <a:pt x="1585772" y="335452"/>
                </a:cubicBezTo>
                <a:cubicBezTo>
                  <a:pt x="1457044" y="472995"/>
                  <a:pt x="1362764" y="507478"/>
                  <a:pt x="1257385" y="624525"/>
                </a:cubicBezTo>
                <a:cubicBezTo>
                  <a:pt x="1152006" y="741571"/>
                  <a:pt x="1088417" y="799963"/>
                  <a:pt x="928998" y="913597"/>
                </a:cubicBezTo>
                <a:cubicBezTo>
                  <a:pt x="769580" y="1027231"/>
                  <a:pt x="673440" y="1118674"/>
                  <a:pt x="503178" y="1288439"/>
                </a:cubicBezTo>
                <a:cubicBezTo>
                  <a:pt x="494116" y="1406826"/>
                  <a:pt x="481133" y="1449663"/>
                  <a:pt x="472682" y="1601020"/>
                </a:cubicBezTo>
                <a:cubicBezTo>
                  <a:pt x="648159" y="1465387"/>
                  <a:pt x="771344" y="1347357"/>
                  <a:pt x="886635" y="1224069"/>
                </a:cubicBezTo>
                <a:cubicBezTo>
                  <a:pt x="1001926" y="1100781"/>
                  <a:pt x="1174339" y="998933"/>
                  <a:pt x="1314234" y="834690"/>
                </a:cubicBezTo>
                <a:cubicBezTo>
                  <a:pt x="1454129" y="670447"/>
                  <a:pt x="1618442" y="589788"/>
                  <a:pt x="1837361" y="358323"/>
                </a:cubicBezTo>
                <a:cubicBezTo>
                  <a:pt x="1967956" y="370214"/>
                  <a:pt x="2059266" y="372783"/>
                  <a:pt x="2203308" y="373571"/>
                </a:cubicBezTo>
                <a:cubicBezTo>
                  <a:pt x="2074588" y="501093"/>
                  <a:pt x="1994069" y="532563"/>
                  <a:pt x="1812278" y="715503"/>
                </a:cubicBezTo>
                <a:cubicBezTo>
                  <a:pt x="1630488" y="898443"/>
                  <a:pt x="1572735" y="925183"/>
                  <a:pt x="1404247" y="1072302"/>
                </a:cubicBezTo>
                <a:cubicBezTo>
                  <a:pt x="1235758" y="1219421"/>
                  <a:pt x="1107987" y="1307903"/>
                  <a:pt x="962213" y="1458834"/>
                </a:cubicBezTo>
                <a:cubicBezTo>
                  <a:pt x="816438" y="1609764"/>
                  <a:pt x="693320" y="1674905"/>
                  <a:pt x="503178" y="1860232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732735375">
                  <a:custGeom>
                    <a:avLst/>
                    <a:gdLst>
                      <a:gd name="connsiteX0" fmla="*/ 0 w 2781701"/>
                      <a:gd name="connsiteY0" fmla="*/ 0 h 2348564"/>
                      <a:gd name="connsiteX1" fmla="*/ 163630 w 2781701"/>
                      <a:gd name="connsiteY1" fmla="*/ 356135 h 2348564"/>
                      <a:gd name="connsiteX2" fmla="*/ 259882 w 2781701"/>
                      <a:gd name="connsiteY2" fmla="*/ 452388 h 2348564"/>
                      <a:gd name="connsiteX3" fmla="*/ 635268 w 2781701"/>
                      <a:gd name="connsiteY3" fmla="*/ 105878 h 2348564"/>
                      <a:gd name="connsiteX4" fmla="*/ 895150 w 2781701"/>
                      <a:gd name="connsiteY4" fmla="*/ 182880 h 2348564"/>
                      <a:gd name="connsiteX5" fmla="*/ 298383 w 2781701"/>
                      <a:gd name="connsiteY5" fmla="*/ 635268 h 2348564"/>
                      <a:gd name="connsiteX6" fmla="*/ 336884 w 2781701"/>
                      <a:gd name="connsiteY6" fmla="*/ 895150 h 2348564"/>
                      <a:gd name="connsiteX7" fmla="*/ 1135781 w 2781701"/>
                      <a:gd name="connsiteY7" fmla="*/ 202131 h 2348564"/>
                      <a:gd name="connsiteX8" fmla="*/ 1347537 w 2781701"/>
                      <a:gd name="connsiteY8" fmla="*/ 288758 h 2348564"/>
                      <a:gd name="connsiteX9" fmla="*/ 462013 w 2781701"/>
                      <a:gd name="connsiteY9" fmla="*/ 1068404 h 2348564"/>
                      <a:gd name="connsiteX10" fmla="*/ 558265 w 2781701"/>
                      <a:gd name="connsiteY10" fmla="*/ 1347537 h 2348564"/>
                      <a:gd name="connsiteX11" fmla="*/ 1636295 w 2781701"/>
                      <a:gd name="connsiteY11" fmla="*/ 346510 h 2348564"/>
                      <a:gd name="connsiteX12" fmla="*/ 2002055 w 2781701"/>
                      <a:gd name="connsiteY12" fmla="*/ 423512 h 2348564"/>
                      <a:gd name="connsiteX13" fmla="*/ 635268 w 2781701"/>
                      <a:gd name="connsiteY13" fmla="*/ 1626670 h 2348564"/>
                      <a:gd name="connsiteX14" fmla="*/ 596767 w 2781701"/>
                      <a:gd name="connsiteY14" fmla="*/ 2021306 h 2348564"/>
                      <a:gd name="connsiteX15" fmla="*/ 2319689 w 2781701"/>
                      <a:gd name="connsiteY15" fmla="*/ 452388 h 2348564"/>
                      <a:gd name="connsiteX16" fmla="*/ 2781701 w 2781701"/>
                      <a:gd name="connsiteY16" fmla="*/ 471638 h 2348564"/>
                      <a:gd name="connsiteX17" fmla="*/ 635268 w 2781701"/>
                      <a:gd name="connsiteY17" fmla="*/ 2348564 h 23485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781701" h="2348564">
                        <a:moveTo>
                          <a:pt x="0" y="0"/>
                        </a:moveTo>
                        <a:lnTo>
                          <a:pt x="163630" y="356135"/>
                        </a:lnTo>
                        <a:lnTo>
                          <a:pt x="259882" y="452388"/>
                        </a:lnTo>
                        <a:lnTo>
                          <a:pt x="635268" y="105878"/>
                        </a:lnTo>
                        <a:lnTo>
                          <a:pt x="895150" y="182880"/>
                        </a:lnTo>
                        <a:lnTo>
                          <a:pt x="298383" y="635268"/>
                        </a:lnTo>
                        <a:lnTo>
                          <a:pt x="336884" y="895150"/>
                        </a:lnTo>
                        <a:lnTo>
                          <a:pt x="1135781" y="202131"/>
                        </a:lnTo>
                        <a:lnTo>
                          <a:pt x="1347537" y="288758"/>
                        </a:lnTo>
                        <a:lnTo>
                          <a:pt x="462013" y="1068404"/>
                        </a:lnTo>
                        <a:lnTo>
                          <a:pt x="558265" y="1347537"/>
                        </a:lnTo>
                        <a:lnTo>
                          <a:pt x="1636295" y="346510"/>
                        </a:lnTo>
                        <a:lnTo>
                          <a:pt x="2002055" y="423512"/>
                        </a:lnTo>
                        <a:lnTo>
                          <a:pt x="635268" y="1626670"/>
                        </a:lnTo>
                        <a:lnTo>
                          <a:pt x="596767" y="2021306"/>
                        </a:lnTo>
                        <a:lnTo>
                          <a:pt x="2319689" y="452388"/>
                        </a:lnTo>
                        <a:lnTo>
                          <a:pt x="2781701" y="471638"/>
                        </a:lnTo>
                        <a:lnTo>
                          <a:pt x="635268" y="2348564"/>
                        </a:ln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914A5F1-3669-5C49-6407-B80A26F2F47A}"/>
              </a:ext>
            </a:extLst>
          </p:cNvPr>
          <p:cNvGrpSpPr/>
          <p:nvPr/>
        </p:nvGrpSpPr>
        <p:grpSpPr>
          <a:xfrm>
            <a:off x="4033731" y="4760243"/>
            <a:ext cx="1808139" cy="1519701"/>
            <a:chOff x="6247243" y="4732534"/>
            <a:chExt cx="1808139" cy="15197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13756B1-97F4-F217-D4A6-B5BED8413B10}"/>
                </a:ext>
              </a:extLst>
            </p:cNvPr>
            <p:cNvSpPr/>
            <p:nvPr/>
          </p:nvSpPr>
          <p:spPr>
            <a:xfrm>
              <a:off x="6247243" y="5175994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7679E9B-0763-A8CF-A12E-B6F55EFD3D29}"/>
                </a:ext>
              </a:extLst>
            </p:cNvPr>
            <p:cNvSpPr/>
            <p:nvPr/>
          </p:nvSpPr>
          <p:spPr>
            <a:xfrm>
              <a:off x="6404806" y="5318308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A6E1208-E179-BF16-C8D3-E02C65E7CEDC}"/>
                </a:ext>
              </a:extLst>
            </p:cNvPr>
            <p:cNvSpPr/>
            <p:nvPr/>
          </p:nvSpPr>
          <p:spPr>
            <a:xfrm>
              <a:off x="6418786" y="5515258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08855A7-C716-12F6-40CD-B553A2ED14BA}"/>
                </a:ext>
              </a:extLst>
            </p:cNvPr>
            <p:cNvSpPr/>
            <p:nvPr/>
          </p:nvSpPr>
          <p:spPr>
            <a:xfrm>
              <a:off x="6402266" y="5864687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4C6FCAD-5988-EBB3-41CF-5AD2D9186BA6}"/>
                </a:ext>
              </a:extLst>
            </p:cNvPr>
            <p:cNvSpPr/>
            <p:nvPr/>
          </p:nvSpPr>
          <p:spPr>
            <a:xfrm>
              <a:off x="6599218" y="6153124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D16106B3-3926-6D35-372B-546568004705}"/>
                </a:ext>
              </a:extLst>
            </p:cNvPr>
            <p:cNvSpPr/>
            <p:nvPr/>
          </p:nvSpPr>
          <p:spPr>
            <a:xfrm>
              <a:off x="6918151" y="5892641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D258E9B-259B-CC86-B726-9B9FA58F453F}"/>
                </a:ext>
              </a:extLst>
            </p:cNvPr>
            <p:cNvSpPr/>
            <p:nvPr/>
          </p:nvSpPr>
          <p:spPr>
            <a:xfrm>
              <a:off x="7282830" y="5487305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8BF97BD-09FE-FC19-4ADE-5274885C7C33}"/>
                </a:ext>
              </a:extLst>
            </p:cNvPr>
            <p:cNvSpPr/>
            <p:nvPr/>
          </p:nvSpPr>
          <p:spPr>
            <a:xfrm>
              <a:off x="7365423" y="5562274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02C4055-DC73-50D5-C6B1-6B78CDCD1EA1}"/>
                </a:ext>
              </a:extLst>
            </p:cNvPr>
            <p:cNvSpPr/>
            <p:nvPr/>
          </p:nvSpPr>
          <p:spPr>
            <a:xfrm>
              <a:off x="7531877" y="5446645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847B458-612A-8FEC-F181-8BBFAC65193E}"/>
                </a:ext>
              </a:extLst>
            </p:cNvPr>
            <p:cNvSpPr/>
            <p:nvPr/>
          </p:nvSpPr>
          <p:spPr>
            <a:xfrm>
              <a:off x="7422601" y="5405983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E02BE75A-1595-50F5-E06D-DB749C64F450}"/>
                </a:ext>
              </a:extLst>
            </p:cNvPr>
            <p:cNvSpPr/>
            <p:nvPr/>
          </p:nvSpPr>
          <p:spPr>
            <a:xfrm>
              <a:off x="7383211" y="4985397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9A6AF92C-5B61-D491-6A86-E05081EC33AC}"/>
                </a:ext>
              </a:extLst>
            </p:cNvPr>
            <p:cNvSpPr/>
            <p:nvPr/>
          </p:nvSpPr>
          <p:spPr>
            <a:xfrm>
              <a:off x="7603032" y="4831648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B9BB2C61-1FDD-9765-1761-68531E945A63}"/>
                </a:ext>
              </a:extLst>
            </p:cNvPr>
            <p:cNvSpPr/>
            <p:nvPr/>
          </p:nvSpPr>
          <p:spPr>
            <a:xfrm>
              <a:off x="7655131" y="4975232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CF5B64E-7ED2-29C0-535C-A515ABDA87CF}"/>
                </a:ext>
              </a:extLst>
            </p:cNvPr>
            <p:cNvSpPr/>
            <p:nvPr/>
          </p:nvSpPr>
          <p:spPr>
            <a:xfrm>
              <a:off x="7911799" y="5010810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D479F3A-85A2-4765-21A5-669020000FA8}"/>
                </a:ext>
              </a:extLst>
            </p:cNvPr>
            <p:cNvSpPr/>
            <p:nvPr/>
          </p:nvSpPr>
          <p:spPr>
            <a:xfrm>
              <a:off x="7948647" y="5131522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8808C0B-C068-7084-35A8-1F1B3CC12CE6}"/>
                </a:ext>
              </a:extLst>
            </p:cNvPr>
            <p:cNvSpPr/>
            <p:nvPr/>
          </p:nvSpPr>
          <p:spPr>
            <a:xfrm>
              <a:off x="6582693" y="4886285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8FF87AB-73E4-C912-2DED-EAC68815749F}"/>
                </a:ext>
              </a:extLst>
            </p:cNvPr>
            <p:cNvSpPr/>
            <p:nvPr/>
          </p:nvSpPr>
          <p:spPr>
            <a:xfrm>
              <a:off x="6558551" y="4732534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5B270DF3-C635-EFC0-FCA0-923867F1E475}"/>
                </a:ext>
              </a:extLst>
            </p:cNvPr>
            <p:cNvSpPr/>
            <p:nvPr/>
          </p:nvSpPr>
          <p:spPr>
            <a:xfrm>
              <a:off x="7007091" y="4998100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CA0A20FD-AD2C-2396-2D78-24F398223B65}"/>
                </a:ext>
              </a:extLst>
            </p:cNvPr>
            <p:cNvSpPr/>
            <p:nvPr/>
          </p:nvSpPr>
          <p:spPr>
            <a:xfrm>
              <a:off x="6830469" y="5431392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879F0E91-9A43-E804-ED05-C70EC9984297}"/>
                </a:ext>
              </a:extLst>
            </p:cNvPr>
            <p:cNvSpPr/>
            <p:nvPr/>
          </p:nvSpPr>
          <p:spPr>
            <a:xfrm>
              <a:off x="7019794" y="5544483"/>
              <a:ext cx="106735" cy="991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F7E734DF-D37B-6B11-A567-7A8F6A31C03F}"/>
              </a:ext>
            </a:extLst>
          </p:cNvPr>
          <p:cNvSpPr/>
          <p:nvPr/>
        </p:nvSpPr>
        <p:spPr>
          <a:xfrm>
            <a:off x="7787677" y="6036612"/>
            <a:ext cx="118029" cy="10296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TextBox 56">
            <a:extLst>
              <a:ext uri="{FF2B5EF4-FFF2-40B4-BE49-F238E27FC236}">
                <a16:creationId xmlns:a16="http://schemas.microsoft.com/office/drawing/2014/main" id="{4BAD8D7F-2319-6225-2902-E42B92A58069}"/>
              </a:ext>
            </a:extLst>
          </p:cNvPr>
          <p:cNvSpPr txBox="1"/>
          <p:nvPr/>
        </p:nvSpPr>
        <p:spPr>
          <a:xfrm>
            <a:off x="7928987" y="5696130"/>
            <a:ext cx="1630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Seine/ eDNA</a:t>
            </a:r>
          </a:p>
        </p:txBody>
      </p:sp>
    </p:spTree>
    <p:extLst>
      <p:ext uri="{BB962C8B-B14F-4D97-AF65-F5344CB8AC3E}">
        <p14:creationId xmlns:p14="http://schemas.microsoft.com/office/powerpoint/2010/main" val="2869073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8FA3BD6D-432C-8406-D50F-AF5DA65C3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E8498772-C922-0138-A337-9FFACB2AA1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Environmental DNA</a:t>
            </a:r>
            <a:endParaRPr b="1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3288D8-EB07-AA2A-2D38-AC2137E8D113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4E81225E-47BF-C6AE-7A17-DAD62BD57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55182" y="2748707"/>
            <a:ext cx="3483093" cy="136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 descr="DNA outline">
            <a:extLst>
              <a:ext uri="{FF2B5EF4-FFF2-40B4-BE49-F238E27FC236}">
                <a16:creationId xmlns:a16="http://schemas.microsoft.com/office/drawing/2014/main" id="{5B4E347F-F9CA-3979-1068-905B2F0A4B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426863">
            <a:off x="8437418" y="2208974"/>
            <a:ext cx="914400" cy="914400"/>
          </a:xfrm>
          <a:prstGeom prst="rect">
            <a:avLst/>
          </a:prstGeom>
        </p:spPr>
      </p:pic>
      <p:pic>
        <p:nvPicPr>
          <p:cNvPr id="6" name="Graphic 5" descr="DNA outline">
            <a:extLst>
              <a:ext uri="{FF2B5EF4-FFF2-40B4-BE49-F238E27FC236}">
                <a16:creationId xmlns:a16="http://schemas.microsoft.com/office/drawing/2014/main" id="{B7F70CB9-BD00-FE38-C7EB-9F9AC2429D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426863">
            <a:off x="8097981" y="5176365"/>
            <a:ext cx="914400" cy="914400"/>
          </a:xfrm>
          <a:prstGeom prst="rect">
            <a:avLst/>
          </a:prstGeom>
        </p:spPr>
      </p:pic>
      <p:pic>
        <p:nvPicPr>
          <p:cNvPr id="7" name="Graphic 6" descr="DNA outline">
            <a:extLst>
              <a:ext uri="{FF2B5EF4-FFF2-40B4-BE49-F238E27FC236}">
                <a16:creationId xmlns:a16="http://schemas.microsoft.com/office/drawing/2014/main" id="{4FAD7916-BC9D-3872-943A-29CBE381C3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426863">
            <a:off x="6507018" y="2453452"/>
            <a:ext cx="914400" cy="914400"/>
          </a:xfrm>
          <a:prstGeom prst="rect">
            <a:avLst/>
          </a:prstGeom>
        </p:spPr>
      </p:pic>
      <p:pic>
        <p:nvPicPr>
          <p:cNvPr id="8" name="Graphic 7" descr="DNA outline">
            <a:extLst>
              <a:ext uri="{FF2B5EF4-FFF2-40B4-BE49-F238E27FC236}">
                <a16:creationId xmlns:a16="http://schemas.microsoft.com/office/drawing/2014/main" id="{8E43DBCB-E7BD-7E95-F8F7-34B87B2E90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426863">
            <a:off x="8562108" y="4047836"/>
            <a:ext cx="914400" cy="914400"/>
          </a:xfrm>
          <a:prstGeom prst="rect">
            <a:avLst/>
          </a:prstGeom>
        </p:spPr>
      </p:pic>
      <p:pic>
        <p:nvPicPr>
          <p:cNvPr id="9" name="Graphic 8" descr="DNA outline">
            <a:extLst>
              <a:ext uri="{FF2B5EF4-FFF2-40B4-BE49-F238E27FC236}">
                <a16:creationId xmlns:a16="http://schemas.microsoft.com/office/drawing/2014/main" id="{3EE1E692-2EE1-FEC5-D08F-C53AE78E2F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426863">
            <a:off x="5931208" y="4535897"/>
            <a:ext cx="914400" cy="914400"/>
          </a:xfrm>
          <a:prstGeom prst="rect">
            <a:avLst/>
          </a:prstGeom>
        </p:spPr>
      </p:pic>
      <p:pic>
        <p:nvPicPr>
          <p:cNvPr id="10" name="Graphic 9" descr="DNA outline">
            <a:extLst>
              <a:ext uri="{FF2B5EF4-FFF2-40B4-BE49-F238E27FC236}">
                <a16:creationId xmlns:a16="http://schemas.microsoft.com/office/drawing/2014/main" id="{97571B8B-12C6-6D4D-F335-52D8D2335E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426863">
            <a:off x="4353560" y="3718213"/>
            <a:ext cx="914400" cy="914400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958D86D3-E917-B9AD-7BCB-C438935B5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31680" y="41120"/>
            <a:ext cx="1280160" cy="50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0DFD1F98-72A9-73C0-0370-37092F975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11840" y="13388"/>
            <a:ext cx="1280160" cy="562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448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5631E640-4932-B6DC-A097-89EDDDA03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4C414238-A7AB-FF2C-6F39-ED30725F18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Environmental DNA</a:t>
            </a:r>
            <a:endParaRPr b="1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B1F5C7-D367-B3F3-DF52-CD09E8322C6D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B3DFAF4-7DF9-2DDD-C708-7F9F951B2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759" y="2748707"/>
            <a:ext cx="3483093" cy="136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 descr="DNA outline">
            <a:extLst>
              <a:ext uri="{FF2B5EF4-FFF2-40B4-BE49-F238E27FC236}">
                <a16:creationId xmlns:a16="http://schemas.microsoft.com/office/drawing/2014/main" id="{D9576E1C-B5DE-B6E6-FF7B-067A48FB0E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426863">
            <a:off x="8437418" y="2208974"/>
            <a:ext cx="914400" cy="914400"/>
          </a:xfrm>
          <a:prstGeom prst="rect">
            <a:avLst/>
          </a:prstGeom>
        </p:spPr>
      </p:pic>
      <p:pic>
        <p:nvPicPr>
          <p:cNvPr id="6" name="Graphic 5" descr="DNA outline">
            <a:extLst>
              <a:ext uri="{FF2B5EF4-FFF2-40B4-BE49-F238E27FC236}">
                <a16:creationId xmlns:a16="http://schemas.microsoft.com/office/drawing/2014/main" id="{ABD408C1-A93A-C6C6-9EB1-93635651FB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426863">
            <a:off x="8097981" y="5176365"/>
            <a:ext cx="914400" cy="914400"/>
          </a:xfrm>
          <a:prstGeom prst="rect">
            <a:avLst/>
          </a:prstGeom>
        </p:spPr>
      </p:pic>
      <p:pic>
        <p:nvPicPr>
          <p:cNvPr id="7" name="Graphic 6" descr="DNA outline">
            <a:extLst>
              <a:ext uri="{FF2B5EF4-FFF2-40B4-BE49-F238E27FC236}">
                <a16:creationId xmlns:a16="http://schemas.microsoft.com/office/drawing/2014/main" id="{16049141-F291-EC7D-10F2-83BF80D7EC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426863">
            <a:off x="6507018" y="2453452"/>
            <a:ext cx="914400" cy="914400"/>
          </a:xfrm>
          <a:prstGeom prst="rect">
            <a:avLst/>
          </a:prstGeom>
        </p:spPr>
      </p:pic>
      <p:pic>
        <p:nvPicPr>
          <p:cNvPr id="8" name="Graphic 7" descr="DNA outline">
            <a:extLst>
              <a:ext uri="{FF2B5EF4-FFF2-40B4-BE49-F238E27FC236}">
                <a16:creationId xmlns:a16="http://schemas.microsoft.com/office/drawing/2014/main" id="{909BFA71-E613-9863-50BD-A2AAE1A94E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426863">
            <a:off x="8562108" y="4047836"/>
            <a:ext cx="914400" cy="914400"/>
          </a:xfrm>
          <a:prstGeom prst="rect">
            <a:avLst/>
          </a:prstGeom>
        </p:spPr>
      </p:pic>
      <p:pic>
        <p:nvPicPr>
          <p:cNvPr id="9" name="Graphic 8" descr="DNA outline">
            <a:extLst>
              <a:ext uri="{FF2B5EF4-FFF2-40B4-BE49-F238E27FC236}">
                <a16:creationId xmlns:a16="http://schemas.microsoft.com/office/drawing/2014/main" id="{601A5BCB-9ECA-6D61-EFE6-7B219448D6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426863">
            <a:off x="5931208" y="4535897"/>
            <a:ext cx="914400" cy="914400"/>
          </a:xfrm>
          <a:prstGeom prst="rect">
            <a:avLst/>
          </a:prstGeom>
        </p:spPr>
      </p:pic>
      <p:pic>
        <p:nvPicPr>
          <p:cNvPr id="10" name="Graphic 9" descr="DNA outline">
            <a:extLst>
              <a:ext uri="{FF2B5EF4-FFF2-40B4-BE49-F238E27FC236}">
                <a16:creationId xmlns:a16="http://schemas.microsoft.com/office/drawing/2014/main" id="{CDEDC195-D1C5-5245-E0E4-D7E2EDC75B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426863">
            <a:off x="4353560" y="3718213"/>
            <a:ext cx="914400" cy="9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DFB6C22-D710-6406-200F-94A53E55D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31680" y="41120"/>
            <a:ext cx="1280160" cy="50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367912F3-75FC-8C6E-62A7-25FAB7830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11840" y="13388"/>
            <a:ext cx="1280160" cy="562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578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FB7372B3-9F9D-7139-572A-0226BA4C7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CA3C13-86F5-9291-9EA4-DC3EBF55CC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8087" y="1305775"/>
            <a:ext cx="3270170" cy="490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C8C6C15D-672F-B4F3-54A2-C4A240D32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8087" y="1305775"/>
            <a:ext cx="3270170" cy="490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74253BF1-FDC7-C822-9616-492CB6E3BB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8087" y="1305774"/>
            <a:ext cx="3270170" cy="490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07959B55-4753-9B43-ACA0-556BF0742A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8087" y="1305773"/>
            <a:ext cx="3270170" cy="4919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11A3EBE8-38BD-92CF-9F9A-7399C6BC47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Environmental DNA</a:t>
            </a:r>
            <a:endParaRPr b="1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517719-4EA8-49BD-16DF-E6156A9DC626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4000CE9-2CA4-B489-9691-7F12C439A0C6}"/>
                  </a:ext>
                </a:extLst>
              </p14:cNvPr>
              <p14:cNvContentPartPr/>
              <p14:nvPr/>
            </p14:nvContentPartPr>
            <p14:xfrm>
              <a:off x="7060762" y="4230153"/>
              <a:ext cx="189860" cy="127806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4000CE9-2CA4-B489-9691-7F12C439A0C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56447" y="4225833"/>
                <a:ext cx="198490" cy="136446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2808F7D0-9B02-A3E9-1AC6-8A255039E3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1136" y="5310741"/>
            <a:ext cx="2981741" cy="1190791"/>
          </a:xfrm>
          <a:prstGeom prst="rect">
            <a:avLst/>
          </a:prstGeom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AE3598F2-5818-16FE-207C-9D97F22C6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11840" y="13388"/>
            <a:ext cx="1280160" cy="562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4DAE4BE-487A-F48A-6591-90D1B58AA577}"/>
              </a:ext>
            </a:extLst>
          </p:cNvPr>
          <p:cNvSpPr/>
          <p:nvPr/>
        </p:nvSpPr>
        <p:spPr>
          <a:xfrm>
            <a:off x="7410450" y="5797469"/>
            <a:ext cx="720090" cy="315675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FCFB6E-2677-0DD9-9999-5D4F665496C5}"/>
              </a:ext>
            </a:extLst>
          </p:cNvPr>
          <p:cNvSpPr/>
          <p:nvPr/>
        </p:nvSpPr>
        <p:spPr>
          <a:xfrm>
            <a:off x="8151495" y="6113144"/>
            <a:ext cx="891540" cy="315675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0318FD0-B062-452E-0D64-7BC7010358F7}"/>
              </a:ext>
            </a:extLst>
          </p:cNvPr>
          <p:cNvSpPr/>
          <p:nvPr/>
        </p:nvSpPr>
        <p:spPr>
          <a:xfrm>
            <a:off x="8151495" y="5793103"/>
            <a:ext cx="891540" cy="315675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FC79AE-67B8-D49B-B913-92D9D8BCADAD}"/>
              </a:ext>
            </a:extLst>
          </p:cNvPr>
          <p:cNvSpPr/>
          <p:nvPr/>
        </p:nvSpPr>
        <p:spPr>
          <a:xfrm>
            <a:off x="7410450" y="6113144"/>
            <a:ext cx="720090" cy="315675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D57264C-395C-0426-11F7-6C524C80B814}"/>
              </a:ext>
            </a:extLst>
          </p:cNvPr>
          <p:cNvGrpSpPr/>
          <p:nvPr/>
        </p:nvGrpSpPr>
        <p:grpSpPr>
          <a:xfrm>
            <a:off x="4858892" y="1302143"/>
            <a:ext cx="3001249" cy="3736696"/>
            <a:chOff x="4858892" y="791603"/>
            <a:chExt cx="3001249" cy="373669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DC4125E-567B-5181-2FEA-6404B6A20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858892" y="1093665"/>
              <a:ext cx="3001249" cy="3434634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92D8883-0080-19EA-0337-52F821D1F965}"/>
                </a:ext>
              </a:extLst>
            </p:cNvPr>
            <p:cNvSpPr txBox="1"/>
            <p:nvPr/>
          </p:nvSpPr>
          <p:spPr>
            <a:xfrm>
              <a:off x="4892039" y="791603"/>
              <a:ext cx="2939415" cy="307777"/>
            </a:xfrm>
            <a:prstGeom prst="rect">
              <a:avLst/>
            </a:prstGeom>
            <a:solidFill>
              <a:srgbClr val="D9D9D9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Mean 2023 seine catch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8E96A36-CC3A-B1FB-CBEA-637368AAB121}"/>
              </a:ext>
            </a:extLst>
          </p:cNvPr>
          <p:cNvGrpSpPr/>
          <p:nvPr/>
        </p:nvGrpSpPr>
        <p:grpSpPr>
          <a:xfrm>
            <a:off x="7860142" y="1302143"/>
            <a:ext cx="3025284" cy="3736696"/>
            <a:chOff x="7860142" y="791603"/>
            <a:chExt cx="3025284" cy="3736696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9267F76-041F-48B9-68C7-2B99ECF7B79E}"/>
                </a:ext>
              </a:extLst>
            </p:cNvPr>
            <p:cNvGrpSpPr/>
            <p:nvPr/>
          </p:nvGrpSpPr>
          <p:grpSpPr>
            <a:xfrm>
              <a:off x="7860142" y="1068485"/>
              <a:ext cx="3025284" cy="3459814"/>
              <a:chOff x="7860142" y="1068485"/>
              <a:chExt cx="3025284" cy="3459814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33902185-CAE7-5606-AF48-A91F5B2489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7860142" y="1068485"/>
                <a:ext cx="3025284" cy="3459814"/>
              </a:xfrm>
              <a:prstGeom prst="rect">
                <a:avLst/>
              </a:prstGeom>
            </p:spPr>
          </p:pic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16E4A1E-F02C-5C17-38FE-68D4A5617BB4}"/>
                  </a:ext>
                </a:extLst>
              </p:cNvPr>
              <p:cNvSpPr/>
              <p:nvPr/>
            </p:nvSpPr>
            <p:spPr>
              <a:xfrm>
                <a:off x="10111740" y="4230153"/>
                <a:ext cx="114300" cy="12780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3AD6E10-2A0D-A0F7-09B3-7399730ECA0B}"/>
                </a:ext>
              </a:extLst>
            </p:cNvPr>
            <p:cNvSpPr txBox="1"/>
            <p:nvPr/>
          </p:nvSpPr>
          <p:spPr>
            <a:xfrm>
              <a:off x="7903076" y="791603"/>
              <a:ext cx="2939415" cy="307777"/>
            </a:xfrm>
            <a:prstGeom prst="rect">
              <a:avLst/>
            </a:prstGeom>
            <a:solidFill>
              <a:srgbClr val="D9D9D9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Mean 2023 eDNA concentration</a:t>
              </a:r>
            </a:p>
          </p:txBody>
        </p:sp>
      </p:grpSp>
      <p:pic>
        <p:nvPicPr>
          <p:cNvPr id="16" name="Picture 4">
            <a:extLst>
              <a:ext uri="{FF2B5EF4-FFF2-40B4-BE49-F238E27FC236}">
                <a16:creationId xmlns:a16="http://schemas.microsoft.com/office/drawing/2014/main" id="{548549C5-BFC0-4333-E42A-8D217D99C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31680" y="41120"/>
            <a:ext cx="1280160" cy="50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Headshot of Samantha Bengs.">
            <a:extLst>
              <a:ext uri="{FF2B5EF4-FFF2-40B4-BE49-F238E27FC236}">
                <a16:creationId xmlns:a16="http://schemas.microsoft.com/office/drawing/2014/main" id="{E8C8A5F7-7BB4-D720-CBED-FB2FC51F9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05477" y="5923242"/>
            <a:ext cx="815752" cy="815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" descr="Staff - Gulf of Maine Research Institute">
            <a:extLst>
              <a:ext uri="{FF2B5EF4-FFF2-40B4-BE49-F238E27FC236}">
                <a16:creationId xmlns:a16="http://schemas.microsoft.com/office/drawing/2014/main" id="{CF0EF1E1-FF5F-A494-2082-D55652C2F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09883" y="5923242"/>
            <a:ext cx="815752" cy="81575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010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CDC1D619-1F27-AC72-4DD7-A10BAC89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fish on a net&#10;&#10;AI-generated content may be incorrect.">
            <a:extLst>
              <a:ext uri="{FF2B5EF4-FFF2-40B4-BE49-F238E27FC236}">
                <a16:creationId xmlns:a16="http://schemas.microsoft.com/office/drawing/2014/main" id="{51A32E43-C846-6421-1ECE-6B3BB6B9812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6140099" y="1577828"/>
            <a:ext cx="4916963" cy="437285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63F9BC2-60C2-CEB9-CCD6-A9A8B5285B01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3EC431E6-3A74-A603-0F15-1EB8DECAD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11840" y="41120"/>
            <a:ext cx="1280160" cy="50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34131DA9-A789-4390-0C50-0898279DC9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Seining</a:t>
            </a:r>
            <a:endParaRPr b="1" dirty="0">
              <a:latin typeface="+mj-lt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A85B7D-9FB0-8CE3-0FE3-CB9847DEF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93249" y="37140"/>
            <a:ext cx="1280160" cy="562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fish with a black background&#10;&#10;AI-generated content may be incorrect.">
            <a:extLst>
              <a:ext uri="{FF2B5EF4-FFF2-40B4-BE49-F238E27FC236}">
                <a16:creationId xmlns:a16="http://schemas.microsoft.com/office/drawing/2014/main" id="{531701F3-2391-1EDA-1A45-BC05113A284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4658" y="68393"/>
            <a:ext cx="1280160" cy="500063"/>
          </a:xfrm>
          <a:prstGeom prst="rect">
            <a:avLst/>
          </a:prstGeom>
        </p:spPr>
      </p:pic>
      <p:pic>
        <p:nvPicPr>
          <p:cNvPr id="12" name="Picture 11" descr="A fish with a black background&#10;&#10;AI-generated content may be incorrect.">
            <a:extLst>
              <a:ext uri="{FF2B5EF4-FFF2-40B4-BE49-F238E27FC236}">
                <a16:creationId xmlns:a16="http://schemas.microsoft.com/office/drawing/2014/main" id="{1D9A7A27-7D3A-3D96-CE73-86B5DE758959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3867" y="-25369"/>
            <a:ext cx="1280160" cy="687586"/>
          </a:xfrm>
          <a:prstGeom prst="rect">
            <a:avLst/>
          </a:prstGeom>
        </p:spPr>
      </p:pic>
      <p:pic>
        <p:nvPicPr>
          <p:cNvPr id="17" name="Picture 2" descr="A woman is hauling up a seining net on a small white skiff.">
            <a:extLst>
              <a:ext uri="{FF2B5EF4-FFF2-40B4-BE49-F238E27FC236}">
                <a16:creationId xmlns:a16="http://schemas.microsoft.com/office/drawing/2014/main" id="{2684E573-2FE1-173C-FD47-A2E461AF21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06993" y="1305773"/>
            <a:ext cx="4372851" cy="491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07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1979910B-15D1-53D0-CFBA-0363F9949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63FE77-34E9-284E-C320-3DD1D9C15D7E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63502545-21B6-D63F-4006-5E123477C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11840" y="41120"/>
            <a:ext cx="1280160" cy="50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85C6A1BD-A27C-FACB-26B8-AF40070296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Community Ecology</a:t>
            </a:r>
            <a:endParaRPr b="1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BC7CD1-CB48-8B83-5507-0375C685399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882" y="828206"/>
            <a:ext cx="10562235" cy="5677392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C9283E31-0287-5872-1F0D-7C9DD21EA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182" y="3429000"/>
            <a:ext cx="3039488" cy="118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Atlantic Silversides">
            <a:extLst>
              <a:ext uri="{FF2B5EF4-FFF2-40B4-BE49-F238E27FC236}">
                <a16:creationId xmlns:a16="http://schemas.microsoft.com/office/drawing/2014/main" id="{672B38FD-C87B-812E-CD27-2A3CF56D32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1205" r="97590">
                        <a14:foregroundMark x1="5271" y1="46392" x2="5271" y2="46392"/>
                        <a14:foregroundMark x1="95934" y1="32474" x2="95934" y2="32474"/>
                        <a14:foregroundMark x1="96386" y1="78351" x2="96386" y2="78351"/>
                        <a14:foregroundMark x1="97590" y1="28866" x2="97590" y2="28866"/>
                        <a14:foregroundMark x1="2861" y1="46392" x2="2861" y2="46392"/>
                        <a14:foregroundMark x1="1355" y1="46392" x2="1355" y2="46392"/>
                        <a14:foregroundMark x1="1205" y1="51031" x2="1205" y2="510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36540" y="4821384"/>
            <a:ext cx="2053247" cy="60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Atlantic Silversides">
            <a:extLst>
              <a:ext uri="{FF2B5EF4-FFF2-40B4-BE49-F238E27FC236}">
                <a16:creationId xmlns:a16="http://schemas.microsoft.com/office/drawing/2014/main" id="{0708C062-DD76-6A1C-640F-F472FCC034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1205" r="97590">
                        <a14:foregroundMark x1="5271" y1="46392" x2="5271" y2="46392"/>
                        <a14:foregroundMark x1="95934" y1="32474" x2="95934" y2="32474"/>
                        <a14:foregroundMark x1="96386" y1="78351" x2="96386" y2="78351"/>
                        <a14:foregroundMark x1="97590" y1="28866" x2="97590" y2="28866"/>
                        <a14:foregroundMark x1="2861" y1="46392" x2="2861" y2="46392"/>
                        <a14:foregroundMark x1="1355" y1="46392" x2="1355" y2="46392"/>
                        <a14:foregroundMark x1="1205" y1="51031" x2="1205" y2="510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79124" y="3609323"/>
            <a:ext cx="2890326" cy="84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DC77CD3D-94EE-CB40-FB8F-BFA9EDFB3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15630" y="4713079"/>
            <a:ext cx="2163518" cy="84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8B2051EA-15DC-4524-A233-B752062AC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93249" y="37140"/>
            <a:ext cx="1280160" cy="562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fish with a black background&#10;&#10;AI-generated content may be incorrect.">
            <a:extLst>
              <a:ext uri="{FF2B5EF4-FFF2-40B4-BE49-F238E27FC236}">
                <a16:creationId xmlns:a16="http://schemas.microsoft.com/office/drawing/2014/main" id="{FDCA30FA-E8F7-8F1D-8B55-AADBC3E988A9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4658" y="68393"/>
            <a:ext cx="1280160" cy="500063"/>
          </a:xfrm>
          <a:prstGeom prst="rect">
            <a:avLst/>
          </a:prstGeom>
        </p:spPr>
      </p:pic>
      <p:pic>
        <p:nvPicPr>
          <p:cNvPr id="12" name="Picture 11" descr="A fish with a black background&#10;&#10;AI-generated content may be incorrect.">
            <a:extLst>
              <a:ext uri="{FF2B5EF4-FFF2-40B4-BE49-F238E27FC236}">
                <a16:creationId xmlns:a16="http://schemas.microsoft.com/office/drawing/2014/main" id="{BC8E1F92-24FC-832C-9064-671230D3876D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3867" y="-25369"/>
            <a:ext cx="1280160" cy="687586"/>
          </a:xfrm>
          <a:prstGeom prst="rect">
            <a:avLst/>
          </a:prstGeom>
        </p:spPr>
      </p:pic>
      <p:pic>
        <p:nvPicPr>
          <p:cNvPr id="3" name="Picture 2" descr="Staff - Gulf of Maine Research Institute">
            <a:extLst>
              <a:ext uri="{FF2B5EF4-FFF2-40B4-BE49-F238E27FC236}">
                <a16:creationId xmlns:a16="http://schemas.microsoft.com/office/drawing/2014/main" id="{EB399FFF-CA76-965B-CFCD-5F0B661B90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05477" y="5918341"/>
            <a:ext cx="815752" cy="81575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363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8;p8">
            <a:extLst>
              <a:ext uri="{FF2B5EF4-FFF2-40B4-BE49-F238E27FC236}">
                <a16:creationId xmlns:a16="http://schemas.microsoft.com/office/drawing/2014/main" id="{060AC882-A75F-AE4D-3585-588118551F1D}"/>
              </a:ext>
            </a:extLst>
          </p:cNvPr>
          <p:cNvPicPr preferRelativeResize="0"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3;p1" descr="A black and white logo&#10;&#10;Description automatically generated">
            <a:extLst>
              <a:ext uri="{FF2B5EF4-FFF2-40B4-BE49-F238E27FC236}">
                <a16:creationId xmlns:a16="http://schemas.microsoft.com/office/drawing/2014/main" id="{B034BC37-7CEC-BE40-031D-EC9C429FE7CC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23863" y="245192"/>
            <a:ext cx="2217381" cy="60054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50;p8">
            <a:extLst>
              <a:ext uri="{FF2B5EF4-FFF2-40B4-BE49-F238E27FC236}">
                <a16:creationId xmlns:a16="http://schemas.microsoft.com/office/drawing/2014/main" id="{4A8DA38F-F50C-6E93-CABB-9FAD568534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09081" y="3066935"/>
            <a:ext cx="5081878" cy="724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sz="4600" dirty="0">
                <a:solidFill>
                  <a:schemeClr val="bg1"/>
                </a:solidFill>
                <a:latin typeface="+mj-lt"/>
              </a:rPr>
              <a:t>Then what?</a:t>
            </a:r>
            <a:endParaRPr lang="en-US" sz="4600" b="0" dirty="0">
              <a:solidFill>
                <a:schemeClr val="bg1"/>
              </a:solidFill>
              <a:latin typeface="+mj-lt"/>
              <a:sym typeface="Avenir"/>
            </a:endParaRPr>
          </a:p>
        </p:txBody>
      </p:sp>
      <p:pic>
        <p:nvPicPr>
          <p:cNvPr id="5" name="Google Shape;78;p11">
            <a:extLst>
              <a:ext uri="{FF2B5EF4-FFF2-40B4-BE49-F238E27FC236}">
                <a16:creationId xmlns:a16="http://schemas.microsoft.com/office/drawing/2014/main" id="{7385EFC2-31F6-55D1-877A-7650DB8CA1B8}"/>
              </a:ext>
            </a:extLst>
          </p:cNvPr>
          <p:cNvPicPr preferRelativeResize="0"/>
          <p:nvPr/>
        </p:nvPicPr>
        <p:blipFill rotWithShape="1">
          <a:blip r:embed="rId5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1452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CAFC5D77-C031-11CA-913C-5BAD96453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>
            <a:extLst>
              <a:ext uri="{FF2B5EF4-FFF2-40B4-BE49-F238E27FC236}">
                <a16:creationId xmlns:a16="http://schemas.microsoft.com/office/drawing/2014/main" id="{25715BAF-EF39-533E-CDA4-F089A50BA8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b="1" dirty="0">
                <a:latin typeface="+mj-lt"/>
              </a:rPr>
              <a:t>Where our work goes</a:t>
            </a:r>
            <a:endParaRPr b="1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08F246-F6ED-266A-DAB1-1443EDA9E85A}"/>
              </a:ext>
            </a:extLst>
          </p:cNvPr>
          <p:cNvSpPr/>
          <p:nvPr/>
        </p:nvSpPr>
        <p:spPr>
          <a:xfrm>
            <a:off x="9708543" y="191821"/>
            <a:ext cx="2329732" cy="698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group of people standing in front of a projector screen&#10;&#10;AI-generated content may be incorrect.">
            <a:extLst>
              <a:ext uri="{FF2B5EF4-FFF2-40B4-BE49-F238E27FC236}">
                <a16:creationId xmlns:a16="http://schemas.microsoft.com/office/drawing/2014/main" id="{651BA435-6633-C477-1BD6-B6B632ABDE9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9946" y="2648962"/>
            <a:ext cx="3644326" cy="20128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C13316-1F89-4F05-8CA8-552C0942C21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93949" y="1231267"/>
            <a:ext cx="3644326" cy="1338631"/>
          </a:xfrm>
          <a:prstGeom prst="rect">
            <a:avLst/>
          </a:prstGeom>
        </p:spPr>
      </p:pic>
      <p:pic>
        <p:nvPicPr>
          <p:cNvPr id="10" name="Picture 9" descr="A watercolor map of the state of casco bay&#10;&#10;AI-generated content may be incorrect.">
            <a:extLst>
              <a:ext uri="{FF2B5EF4-FFF2-40B4-BE49-F238E27FC236}">
                <a16:creationId xmlns:a16="http://schemas.microsoft.com/office/drawing/2014/main" id="{E41BC389-50A1-CFA2-CABE-50FA1496B72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93949" y="2685723"/>
            <a:ext cx="3644326" cy="193931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F8FB910-7558-1822-279E-D24C2035AB3A}"/>
              </a:ext>
            </a:extLst>
          </p:cNvPr>
          <p:cNvGrpSpPr/>
          <p:nvPr/>
        </p:nvGrpSpPr>
        <p:grpSpPr>
          <a:xfrm>
            <a:off x="4152900" y="3465302"/>
            <a:ext cx="3886200" cy="2551113"/>
            <a:chOff x="4152900" y="730459"/>
            <a:chExt cx="3886200" cy="255111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AD15DA0-EACF-DECD-84DE-1B18E0299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152900" y="730459"/>
              <a:ext cx="3886200" cy="69872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4B687BF-76FB-E1C0-B5C8-AADAEF922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152900" y="1366844"/>
              <a:ext cx="3886200" cy="540728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37BEFEA-B178-6121-0C54-1C231995D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152900" y="1967822"/>
              <a:ext cx="3886200" cy="68523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ECBD9C3-A430-F3E3-BE18-687D9D187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152900" y="2713308"/>
              <a:ext cx="3886200" cy="568264"/>
            </a:xfrm>
            <a:prstGeom prst="rect">
              <a:avLst/>
            </a:prstGeom>
          </p:spPr>
        </p:pic>
      </p:grpSp>
      <p:pic>
        <p:nvPicPr>
          <p:cNvPr id="27" name="Picture 26" descr="A group of people in a room&#10;&#10;AI-generated content may be incorrect.">
            <a:extLst>
              <a:ext uri="{FF2B5EF4-FFF2-40B4-BE49-F238E27FC236}">
                <a16:creationId xmlns:a16="http://schemas.microsoft.com/office/drawing/2014/main" id="{F61B140D-3E68-376C-2782-47448C4592C1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73837" y="1231267"/>
            <a:ext cx="3644326" cy="1620373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E22B83EA-E2D4-1A00-A8BC-C86FB136DF80}"/>
              </a:ext>
            </a:extLst>
          </p:cNvPr>
          <p:cNvGrpSpPr/>
          <p:nvPr/>
        </p:nvGrpSpPr>
        <p:grpSpPr>
          <a:xfrm>
            <a:off x="8447486" y="4740859"/>
            <a:ext cx="3590789" cy="1566076"/>
            <a:chOff x="8447486" y="4740859"/>
            <a:chExt cx="3590789" cy="156607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6EB984F-6C90-5FB2-E4EC-D20DB2D46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47486" y="4740859"/>
              <a:ext cx="3590789" cy="1566076"/>
            </a:xfrm>
            <a:prstGeom prst="rect">
              <a:avLst/>
            </a:prstGeom>
          </p:spPr>
        </p:pic>
        <p:pic>
          <p:nvPicPr>
            <p:cNvPr id="1032" name="Picture 8" descr="bioRxiv (@biorxivpreprint) / Posts / X">
              <a:extLst>
                <a:ext uri="{FF2B5EF4-FFF2-40B4-BE49-F238E27FC236}">
                  <a16:creationId xmlns:a16="http://schemas.microsoft.com/office/drawing/2014/main" id="{F85F7F43-4542-CCF9-A77C-098800C7F5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2841" y="5950971"/>
              <a:ext cx="1025434" cy="2945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94114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>
          <a:extLst>
            <a:ext uri="{FF2B5EF4-FFF2-40B4-BE49-F238E27FC236}">
              <a16:creationId xmlns:a16="http://schemas.microsoft.com/office/drawing/2014/main" id="{680133BB-933B-B715-F23E-159F11230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8;p8">
            <a:extLst>
              <a:ext uri="{FF2B5EF4-FFF2-40B4-BE49-F238E27FC236}">
                <a16:creationId xmlns:a16="http://schemas.microsoft.com/office/drawing/2014/main" id="{8E21C6A3-42B6-5A2C-24DA-C792B6657513}"/>
              </a:ext>
            </a:extLst>
          </p:cNvPr>
          <p:cNvPicPr preferRelativeResize="0"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3;p1" descr="A black and white logo&#10;&#10;Description automatically generated">
            <a:extLst>
              <a:ext uri="{FF2B5EF4-FFF2-40B4-BE49-F238E27FC236}">
                <a16:creationId xmlns:a16="http://schemas.microsoft.com/office/drawing/2014/main" id="{E4B591C1-57A6-A447-0958-8454742C0E33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41329" y="1554318"/>
            <a:ext cx="2217381" cy="600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78;p11">
            <a:extLst>
              <a:ext uri="{FF2B5EF4-FFF2-40B4-BE49-F238E27FC236}">
                <a16:creationId xmlns:a16="http://schemas.microsoft.com/office/drawing/2014/main" id="{07FF0933-FD76-A912-6384-907B1C9CA6BC}"/>
              </a:ext>
            </a:extLst>
          </p:cNvPr>
          <p:cNvPicPr preferRelativeResize="0"/>
          <p:nvPr/>
        </p:nvPicPr>
        <p:blipFill rotWithShape="1">
          <a:blip r:embed="rId5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Echoview Software Pty Ltd - TasICT">
            <a:extLst>
              <a:ext uri="{FF2B5EF4-FFF2-40B4-BE49-F238E27FC236}">
                <a16:creationId xmlns:a16="http://schemas.microsoft.com/office/drawing/2014/main" id="{84EA114B-F9F7-6E4A-7F38-D622D8841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96452" y="5843385"/>
            <a:ext cx="3507133" cy="767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Google Shape;50;p8">
            <a:extLst>
              <a:ext uri="{FF2B5EF4-FFF2-40B4-BE49-F238E27FC236}">
                <a16:creationId xmlns:a16="http://schemas.microsoft.com/office/drawing/2014/main" id="{3FC499A1-5E90-D3BC-7999-E63B487E24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09081" y="3066935"/>
            <a:ext cx="5081878" cy="724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08A"/>
              </a:buClr>
              <a:buSzPts val="2800"/>
              <a:buFont typeface="Arial"/>
              <a:buNone/>
            </a:pPr>
            <a:r>
              <a:rPr lang="en-US" sz="4600" dirty="0">
                <a:solidFill>
                  <a:schemeClr val="bg1"/>
                </a:solidFill>
                <a:latin typeface="+mj-lt"/>
              </a:rPr>
              <a:t>Thanks!</a:t>
            </a:r>
            <a:endParaRPr lang="en-US" sz="4600" b="0" dirty="0">
              <a:solidFill>
                <a:schemeClr val="bg1"/>
              </a:solidFill>
              <a:latin typeface="+mj-lt"/>
              <a:sym typeface="Avenir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89C69ECC-D2EB-39D5-4C60-AB07B7052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99462" y="4566640"/>
            <a:ext cx="1029316" cy="1029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About Us - Maine EPSCoR - University of Maine">
            <a:extLst>
              <a:ext uri="{FF2B5EF4-FFF2-40B4-BE49-F238E27FC236}">
                <a16:creationId xmlns:a16="http://schemas.microsoft.com/office/drawing/2014/main" id="{D0565865-719D-4736-7345-F90475800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30618" y="4566640"/>
            <a:ext cx="1052500" cy="102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4" descr="NSF - U.S. National Science Foundation - Home">
            <a:extLst>
              <a:ext uri="{FF2B5EF4-FFF2-40B4-BE49-F238E27FC236}">
                <a16:creationId xmlns:a16="http://schemas.microsoft.com/office/drawing/2014/main" id="{D20E93B1-7224-6749-A1A3-0D0C79E99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54797" y="4446154"/>
            <a:ext cx="1149802" cy="114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173144"/>
      </p:ext>
    </p:extLst>
  </p:cSld>
  <p:clrMapOvr>
    <a:masterClrMapping/>
  </p:clrMapOvr>
</p:sld>
</file>

<file path=ppt/theme/theme1.xml><?xml version="1.0" encoding="utf-8"?>
<a:theme xmlns:a="http://schemas.openxmlformats.org/drawingml/2006/main" name="General slide">
  <a:themeElements>
    <a:clrScheme name="GMRI PPT colors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9646"/>
      </a:hlink>
      <a:folHlink>
        <a:srgbClr val="FEE9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2458</TotalTime>
  <Words>294</Words>
  <Application>Microsoft Office PowerPoint</Application>
  <PresentationFormat>Widescreen</PresentationFormat>
  <Paragraphs>84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General slide</vt:lpstr>
      <vt:lpstr>Casco Bay Ecological Monitoring Update</vt:lpstr>
      <vt:lpstr>Patterns through space and time</vt:lpstr>
      <vt:lpstr>Casco Bay and nearshore environments</vt:lpstr>
      <vt:lpstr>REALLY locally focused, still globally relevant</vt:lpstr>
      <vt:lpstr>CBASS+</vt:lpstr>
      <vt:lpstr>Scientists</vt:lpstr>
      <vt:lpstr>Findings</vt:lpstr>
      <vt:lpstr>Mussel bed mapping / Acoustics</vt:lpstr>
      <vt:lpstr>Acoustic echosounders (Fancy depth sounders!)</vt:lpstr>
      <vt:lpstr>Mussel bed mapping</vt:lpstr>
      <vt:lpstr>Mussel bed mapping</vt:lpstr>
      <vt:lpstr>Jigging</vt:lpstr>
      <vt:lpstr>Community Ecology</vt:lpstr>
      <vt:lpstr>Juvenile Pollock coloration</vt:lpstr>
      <vt:lpstr>Juvenile Pollock coloration</vt:lpstr>
      <vt:lpstr>Seining / Environmental DNA</vt:lpstr>
      <vt:lpstr>Environmental DNA</vt:lpstr>
      <vt:lpstr>Environmental DNA</vt:lpstr>
      <vt:lpstr>Environmental DNA</vt:lpstr>
      <vt:lpstr>Seining</vt:lpstr>
      <vt:lpstr>Community Ecology</vt:lpstr>
      <vt:lpstr>Then what?</vt:lpstr>
      <vt:lpstr>Where our work goes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Petri Tuohimaa</dc:creator>
  <cp:lastModifiedBy>Katie Lankowicz</cp:lastModifiedBy>
  <cp:revision>21</cp:revision>
  <dcterms:created xsi:type="dcterms:W3CDTF">2013-03-19T10:42:00Z</dcterms:created>
  <dcterms:modified xsi:type="dcterms:W3CDTF">2025-11-25T00:52:08Z</dcterms:modified>
</cp:coreProperties>
</file>